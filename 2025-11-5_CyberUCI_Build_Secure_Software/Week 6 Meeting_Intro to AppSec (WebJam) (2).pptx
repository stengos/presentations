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Space Mono"/>
      <p:regular r:id="rId32"/>
      <p:bold r:id="rId33"/>
      <p:italic r:id="rId34"/>
      <p:boldItalic r:id="rId35"/>
    </p:embeddedFont>
    <p:embeddedFont>
      <p:font typeface="Lato"/>
      <p:regular r:id="rId36"/>
      <p:bold r:id="rId37"/>
      <p:italic r:id="rId38"/>
      <p:boldItalic r:id="rId39"/>
    </p:embeddedFont>
    <p:embeddedFont>
      <p:font typeface="Poppins Light"/>
      <p:regular r:id="rId40"/>
      <p:bold r:id="rId41"/>
      <p:italic r:id="rId42"/>
      <p:boldItalic r:id="rId43"/>
    </p:embeddedFont>
    <p:embeddedFont>
      <p:font typeface="Roboto Mono"/>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regular.fntdata"/><Relationship Id="rId42" Type="http://schemas.openxmlformats.org/officeDocument/2006/relationships/font" Target="fonts/PoppinsLight-italic.fntdata"/><Relationship Id="rId41" Type="http://schemas.openxmlformats.org/officeDocument/2006/relationships/font" Target="fonts/PoppinsLight-bold.fntdata"/><Relationship Id="rId44" Type="http://schemas.openxmlformats.org/officeDocument/2006/relationships/font" Target="fonts/RobotoMono-regular.fntdata"/><Relationship Id="rId43" Type="http://schemas.openxmlformats.org/officeDocument/2006/relationships/font" Target="fonts/PoppinsLight-boldItalic.fntdata"/><Relationship Id="rId46" Type="http://schemas.openxmlformats.org/officeDocument/2006/relationships/font" Target="fonts/RobotoMono-italic.fntdata"/><Relationship Id="rId45"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RobotoMono-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SpaceMono-bold.fntdata"/><Relationship Id="rId32" Type="http://schemas.openxmlformats.org/officeDocument/2006/relationships/font" Target="fonts/SpaceMono-regular.fntdata"/><Relationship Id="rId35" Type="http://schemas.openxmlformats.org/officeDocument/2006/relationships/font" Target="fonts/SpaceMono-boldItalic.fntdata"/><Relationship Id="rId34" Type="http://schemas.openxmlformats.org/officeDocument/2006/relationships/font" Target="fonts/SpaceMono-italic.fntdata"/><Relationship Id="rId37" Type="http://schemas.openxmlformats.org/officeDocument/2006/relationships/font" Target="fonts/Lato-bold.fntdata"/><Relationship Id="rId36" Type="http://schemas.openxmlformats.org/officeDocument/2006/relationships/font" Target="fonts/Lato-regular.fntdata"/><Relationship Id="rId39" Type="http://schemas.openxmlformats.org/officeDocument/2006/relationships/font" Target="fonts/Lato-boldItalic.fntdata"/><Relationship Id="rId38" Type="http://schemas.openxmlformats.org/officeDocument/2006/relationships/font" Target="fonts/La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application-security"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application-security"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896f303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896f303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896f303c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896f303c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896f303c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896f303c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896f303c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896f303c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896f303c0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896f303c0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896f303c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896f303c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896f303c0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896f303c0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896f303c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896f303c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https://www.ibm.com/think/topics/application-security</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896f303c0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896f303c0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https://www.ibm.com/think/topics/application-security</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896f303c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896f303c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896f303c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896f303c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896f303c0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9896f303c0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896f303c0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896f303c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896f303c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896f303c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896f303c0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896f303c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896f303c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896f303c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8bceecbe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8bceecbe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896f303c0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9896f303c0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8bceecb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8bceecb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896f303c0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896f303c0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896f303c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896f303c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896f303c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896f303c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896f303c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896f303c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896f303c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896f303c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896f303c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9896f303c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tinyurl.com/kru5aaev"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0" y="744575"/>
            <a:ext cx="7169700" cy="2052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cxnSp>
        <p:nvCxnSpPr>
          <p:cNvPr id="15" name="Google Shape;15;p2"/>
          <p:cNvCxnSpPr/>
          <p:nvPr/>
        </p:nvCxnSpPr>
        <p:spPr>
          <a:xfrm>
            <a:off x="311700" y="2797175"/>
            <a:ext cx="6202500" cy="0"/>
          </a:xfrm>
          <a:prstGeom prst="straightConnector1">
            <a:avLst/>
          </a:prstGeom>
          <a:noFill/>
          <a:ln cap="flat" cmpd="sng" w="9525">
            <a:solidFill>
              <a:schemeClr val="dk2"/>
            </a:solidFill>
            <a:prstDash val="solid"/>
            <a:round/>
            <a:headEnd len="med" w="med" type="none"/>
            <a:tailEnd len="med" w="med" type="none"/>
          </a:ln>
        </p:spPr>
      </p:cxnSp>
      <p:sp>
        <p:nvSpPr>
          <p:cNvPr id="16" name="Google Shape;16;p2"/>
          <p:cNvSpPr txBox="1"/>
          <p:nvPr/>
        </p:nvSpPr>
        <p:spPr>
          <a:xfrm>
            <a:off x="4809650" y="2297326"/>
            <a:ext cx="4334400" cy="2493600"/>
          </a:xfrm>
          <a:prstGeom prst="rect">
            <a:avLst/>
          </a:prstGeom>
          <a:noFill/>
          <a:ln>
            <a:noFill/>
          </a:ln>
        </p:spPr>
        <p:txBody>
          <a:bodyPr anchorCtr="0" anchor="t" bIns="91425" lIns="91425" spcFirstLastPara="1" rIns="91425" wrap="square" tIns="91425">
            <a:noAutofit/>
          </a:bodyPr>
          <a:lstStyle/>
          <a:p>
            <a:pPr indent="0" lvl="0" marL="0" rtl="0" algn="r">
              <a:lnSpc>
                <a:spcPct val="136363"/>
              </a:lnSpc>
              <a:spcBef>
                <a:spcPts val="1200"/>
              </a:spcBef>
              <a:spcAft>
                <a:spcPts val="1200"/>
              </a:spcAft>
              <a:buNone/>
            </a:pPr>
            <a:r>
              <a:rPr lang="en" sz="900">
                <a:solidFill>
                  <a:srgbClr val="6083BF"/>
                </a:solidFill>
                <a:latin typeface="Space Mono"/>
                <a:ea typeface="Space Mono"/>
                <a:cs typeface="Space Mono"/>
                <a:sym typeface="Space Mono"/>
              </a:rPr>
              <a:t>0101101101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11110010110101110110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1101010101101001010011110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101010010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01010110110110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0110100100001111101100001000011111011000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a:t>
            </a:r>
            <a:r>
              <a:rPr lang="en" sz="900">
                <a:solidFill>
                  <a:srgbClr val="6083BF"/>
                </a:solidFill>
                <a:latin typeface="Space Mono"/>
                <a:ea typeface="Space Mono"/>
                <a:cs typeface="Space Mono"/>
                <a:sym typeface="Space Mono"/>
              </a:rPr>
              <a:t>1001001101001000011001101100001001010011011000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101101111011001011100011100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0000101011101010111011000011010111001011011110100101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101110011000110011110111011011110011101001010101010111000</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10110011101010110101010010100101001101001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110110101110010011001011011000101</a:t>
            </a:r>
            <a:br>
              <a:rPr lang="en" sz="900">
                <a:solidFill>
                  <a:srgbClr val="6083BF"/>
                </a:solidFill>
                <a:latin typeface="Space Mono"/>
                <a:ea typeface="Space Mono"/>
                <a:cs typeface="Space Mono"/>
                <a:sym typeface="Space Mono"/>
              </a:rPr>
            </a:br>
            <a:r>
              <a:rPr lang="en" sz="900">
                <a:solidFill>
                  <a:srgbClr val="6083BF"/>
                </a:solidFill>
                <a:latin typeface="Space Mono"/>
                <a:ea typeface="Space Mono"/>
                <a:cs typeface="Space Mono"/>
                <a:sym typeface="Space Mono"/>
              </a:rPr>
              <a:t>01110111011000001010110010111111100101010011101101111001111</a:t>
            </a:r>
            <a:endParaRPr sz="900">
              <a:solidFill>
                <a:srgbClr val="6083BF"/>
              </a:solidFill>
              <a:latin typeface="Space Mono"/>
              <a:ea typeface="Space Mono"/>
              <a:cs typeface="Space Mono"/>
              <a:sym typeface="Space Mono"/>
            </a:endParaRPr>
          </a:p>
        </p:txBody>
      </p:sp>
      <p:sp>
        <p:nvSpPr>
          <p:cNvPr id="17" name="Google Shape;17;p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8" name="Google Shape;18;p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pic>
        <p:nvPicPr>
          <p:cNvPr id="19" name="Google Shape;19;p2" title="logo-color.B2laOV2E.png"/>
          <p:cNvPicPr preferRelativeResize="0"/>
          <p:nvPr/>
        </p:nvPicPr>
        <p:blipFill>
          <a:blip r:embed="rId2">
            <a:alphaModFix/>
          </a:blip>
          <a:stretch>
            <a:fillRect/>
          </a:stretch>
        </p:blipFill>
        <p:spPr>
          <a:xfrm>
            <a:off x="8961450" y="30567"/>
            <a:ext cx="150451" cy="150451"/>
          </a:xfrm>
          <a:prstGeom prst="rect">
            <a:avLst/>
          </a:prstGeom>
          <a:noFill/>
          <a:ln>
            <a:noFill/>
          </a:ln>
        </p:spPr>
      </p:pic>
      <p:pic>
        <p:nvPicPr>
          <p:cNvPr id="20" name="Google Shape;20;p2"/>
          <p:cNvPicPr preferRelativeResize="0"/>
          <p:nvPr/>
        </p:nvPicPr>
        <p:blipFill>
          <a:blip r:embed="rId3">
            <a:alphaModFix/>
          </a:blip>
          <a:stretch>
            <a:fillRect/>
          </a:stretch>
        </p:blipFill>
        <p:spPr>
          <a:xfrm>
            <a:off x="7629875" y="3393100"/>
            <a:ext cx="1331573" cy="1183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Introduction">
  <p:cSld name="CUSTOM">
    <p:spTree>
      <p:nvGrpSpPr>
        <p:cNvPr id="21" name="Shape 21"/>
        <p:cNvGrpSpPr/>
        <p:nvPr/>
      </p:nvGrpSpPr>
      <p:grpSpPr>
        <a:xfrm>
          <a:off x="0" y="0"/>
          <a:ext cx="0" cy="0"/>
          <a:chOff x="0" y="0"/>
          <a:chExt cx="0" cy="0"/>
        </a:xfrm>
      </p:grpSpPr>
      <p:sp>
        <p:nvSpPr>
          <p:cNvPr id="22" name="Google Shape;22;p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 name="Google Shape;23;p3"/>
          <p:cNvSpPr/>
          <p:nvPr>
            <p:ph idx="2" type="pic"/>
          </p:nvPr>
        </p:nvSpPr>
        <p:spPr>
          <a:xfrm>
            <a:off x="3221100" y="985538"/>
            <a:ext cx="2176500" cy="2176500"/>
          </a:xfrm>
          <a:prstGeom prst="roundRect">
            <a:avLst>
              <a:gd fmla="val 16667" name="adj"/>
            </a:avLst>
          </a:prstGeom>
          <a:noFill/>
          <a:ln cap="flat" cmpd="sng" w="19050">
            <a:solidFill>
              <a:schemeClr val="dk2"/>
            </a:solidFill>
            <a:prstDash val="solid"/>
            <a:round/>
            <a:headEnd len="sm" w="sm" type="none"/>
            <a:tailEnd len="sm" w="sm" type="none"/>
          </a:ln>
        </p:spPr>
      </p:sp>
      <p:sp>
        <p:nvSpPr>
          <p:cNvPr id="24" name="Google Shape;24;p3"/>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25" name="Google Shape;25;p3"/>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26" name="Google Shape;26;p3"/>
          <p:cNvSpPr txBox="1"/>
          <p:nvPr>
            <p:ph idx="1" type="subTitle"/>
          </p:nvPr>
        </p:nvSpPr>
        <p:spPr>
          <a:xfrm>
            <a:off x="3221100" y="3162047"/>
            <a:ext cx="4002300" cy="3813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600"/>
              <a:buNone/>
              <a:defRPr>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 name="Google Shape;27;p3"/>
          <p:cNvSpPr txBox="1"/>
          <p:nvPr>
            <p:ph idx="5" type="body"/>
          </p:nvPr>
        </p:nvSpPr>
        <p:spPr>
          <a:xfrm>
            <a:off x="3221100" y="3543349"/>
            <a:ext cx="4002300" cy="1262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8" name="Google Shape;28;p3"/>
          <p:cNvSpPr txBox="1"/>
          <p:nvPr>
            <p:ph type="title"/>
          </p:nvPr>
        </p:nvSpPr>
        <p:spPr>
          <a:xfrm>
            <a:off x="323850" y="209550"/>
            <a:ext cx="5143500" cy="454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Speaker Introduction">
  <p:cSld name="CUSTOM_1">
    <p:spTree>
      <p:nvGrpSpPr>
        <p:cNvPr id="29" name="Shape 29"/>
        <p:cNvGrpSpPr/>
        <p:nvPr/>
      </p:nvGrpSpPr>
      <p:grpSpPr>
        <a:xfrm>
          <a:off x="0" y="0"/>
          <a:ext cx="0" cy="0"/>
          <a:chOff x="0" y="0"/>
          <a:chExt cx="0" cy="0"/>
        </a:xfrm>
      </p:grpSpPr>
      <p:sp>
        <p:nvSpPr>
          <p:cNvPr id="30" name="Google Shape;30;p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1" name="Google Shape;31;p4"/>
          <p:cNvSpPr/>
          <p:nvPr>
            <p:ph idx="2" type="pic"/>
          </p:nvPr>
        </p:nvSpPr>
        <p:spPr>
          <a:xfrm>
            <a:off x="5272275" y="337851"/>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32" name="Google Shape;32;p4"/>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33" name="Google Shape;33;p4"/>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34" name="Google Shape;34;p4"/>
          <p:cNvSpPr txBox="1"/>
          <p:nvPr>
            <p:ph idx="1" type="subTitle"/>
          </p:nvPr>
        </p:nvSpPr>
        <p:spPr>
          <a:xfrm>
            <a:off x="5272275" y="1466600"/>
            <a:ext cx="19476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5" name="Google Shape;35;p4"/>
          <p:cNvSpPr txBox="1"/>
          <p:nvPr>
            <p:ph idx="5" type="body"/>
          </p:nvPr>
        </p:nvSpPr>
        <p:spPr>
          <a:xfrm>
            <a:off x="5272275" y="1790225"/>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6" name="Google Shape;36;p4"/>
          <p:cNvSpPr txBox="1"/>
          <p:nvPr>
            <p:ph type="title"/>
          </p:nvPr>
        </p:nvSpPr>
        <p:spPr>
          <a:xfrm>
            <a:off x="323850" y="209550"/>
            <a:ext cx="5143500" cy="454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4"/>
          <p:cNvSpPr/>
          <p:nvPr>
            <p:ph idx="6" type="pic"/>
          </p:nvPr>
        </p:nvSpPr>
        <p:spPr>
          <a:xfrm>
            <a:off x="7424925" y="335114"/>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38" name="Google Shape;38;p4"/>
          <p:cNvSpPr txBox="1"/>
          <p:nvPr>
            <p:ph idx="7" type="subTitle"/>
          </p:nvPr>
        </p:nvSpPr>
        <p:spPr>
          <a:xfrm>
            <a:off x="7424925" y="1463850"/>
            <a:ext cx="17097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9" name="Google Shape;39;p4"/>
          <p:cNvSpPr txBox="1"/>
          <p:nvPr>
            <p:ph idx="8" type="body"/>
          </p:nvPr>
        </p:nvSpPr>
        <p:spPr>
          <a:xfrm>
            <a:off x="7424925" y="1787475"/>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0" name="Google Shape;40;p4"/>
          <p:cNvSpPr/>
          <p:nvPr>
            <p:ph idx="9" type="pic"/>
          </p:nvPr>
        </p:nvSpPr>
        <p:spPr>
          <a:xfrm>
            <a:off x="5272275" y="2583326"/>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41" name="Google Shape;41;p4"/>
          <p:cNvSpPr txBox="1"/>
          <p:nvPr>
            <p:ph idx="13" type="subTitle"/>
          </p:nvPr>
        </p:nvSpPr>
        <p:spPr>
          <a:xfrm>
            <a:off x="5272275" y="3712075"/>
            <a:ext cx="19476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2" name="Google Shape;42;p4"/>
          <p:cNvSpPr txBox="1"/>
          <p:nvPr>
            <p:ph idx="14" type="body"/>
          </p:nvPr>
        </p:nvSpPr>
        <p:spPr>
          <a:xfrm>
            <a:off x="5272275" y="4035700"/>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3" name="Google Shape;43;p4"/>
          <p:cNvSpPr/>
          <p:nvPr>
            <p:ph idx="15" type="pic"/>
          </p:nvPr>
        </p:nvSpPr>
        <p:spPr>
          <a:xfrm>
            <a:off x="7424925" y="2580589"/>
            <a:ext cx="1185600" cy="1185600"/>
          </a:xfrm>
          <a:prstGeom prst="roundRect">
            <a:avLst>
              <a:gd fmla="val 16667" name="adj"/>
            </a:avLst>
          </a:prstGeom>
          <a:noFill/>
          <a:ln cap="flat" cmpd="sng" w="19050">
            <a:solidFill>
              <a:schemeClr val="dk2"/>
            </a:solidFill>
            <a:prstDash val="solid"/>
            <a:round/>
            <a:headEnd len="sm" w="sm" type="none"/>
            <a:tailEnd len="sm" w="sm" type="none"/>
          </a:ln>
        </p:spPr>
      </p:sp>
      <p:sp>
        <p:nvSpPr>
          <p:cNvPr id="44" name="Google Shape;44;p4"/>
          <p:cNvSpPr txBox="1"/>
          <p:nvPr>
            <p:ph idx="16" type="subTitle"/>
          </p:nvPr>
        </p:nvSpPr>
        <p:spPr>
          <a:xfrm>
            <a:off x="7424925" y="3709325"/>
            <a:ext cx="1709700" cy="509400"/>
          </a:xfrm>
          <a:prstGeom prst="rect">
            <a:avLst/>
          </a:prstGeom>
        </p:spPr>
        <p:txBody>
          <a:bodyPr anchorCtr="0" anchor="t" bIns="91425" lIns="91425" spcFirstLastPara="1" rIns="91425" wrap="square" tIns="91425">
            <a:noAutofit/>
          </a:bodyPr>
          <a:lstStyle>
            <a:lvl1pPr lvl="0">
              <a:spcBef>
                <a:spcPts val="0"/>
              </a:spcBef>
              <a:spcAft>
                <a:spcPts val="0"/>
              </a:spcAft>
              <a:buClr>
                <a:srgbClr val="6083BF"/>
              </a:buClr>
              <a:buSzPts val="1200"/>
              <a:buNone/>
              <a:defRPr sz="1200">
                <a:solidFill>
                  <a:srgbClr val="6083BF"/>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5" name="Google Shape;45;p4"/>
          <p:cNvSpPr txBox="1"/>
          <p:nvPr>
            <p:ph idx="17" type="body"/>
          </p:nvPr>
        </p:nvSpPr>
        <p:spPr>
          <a:xfrm>
            <a:off x="7424925" y="4032950"/>
            <a:ext cx="1709700" cy="1320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Example">
  <p:cSld name="CUSTOM_2">
    <p:spTree>
      <p:nvGrpSpPr>
        <p:cNvPr id="46" name="Shape 46"/>
        <p:cNvGrpSpPr/>
        <p:nvPr/>
      </p:nvGrpSpPr>
      <p:grpSpPr>
        <a:xfrm>
          <a:off x="0" y="0"/>
          <a:ext cx="0" cy="0"/>
          <a:chOff x="0" y="0"/>
          <a:chExt cx="0" cy="0"/>
        </a:xfrm>
      </p:grpSpPr>
      <p:sp>
        <p:nvSpPr>
          <p:cNvPr id="47" name="Google Shape;47;p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8" name="Google Shape;48;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 name="Google Shape;49;p5"/>
          <p:cNvSpPr txBox="1"/>
          <p:nvPr>
            <p:ph idx="1" type="body"/>
          </p:nvPr>
        </p:nvSpPr>
        <p:spPr>
          <a:xfrm>
            <a:off x="311700" y="1132275"/>
            <a:ext cx="40269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 name="Google Shape;50;p5"/>
          <p:cNvSpPr txBox="1"/>
          <p:nvPr>
            <p:ph idx="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1" name="Google Shape;51;p5"/>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52" name="Google Shape;52;p5"/>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53" name="Google Shape;53;p5"/>
          <p:cNvSpPr/>
          <p:nvPr>
            <p:ph idx="5" type="pic"/>
          </p:nvPr>
        </p:nvSpPr>
        <p:spPr>
          <a:xfrm>
            <a:off x="4727425" y="1132275"/>
            <a:ext cx="3898500" cy="3261900"/>
          </a:xfrm>
          <a:prstGeom prst="roundRect">
            <a:avLst>
              <a:gd fmla="val 16667" name="adj"/>
            </a:avLst>
          </a:prstGeom>
          <a:noFill/>
          <a:ln cap="flat" cmpd="sng" w="19050">
            <a:solidFill>
              <a:schemeClr val="dk2"/>
            </a:solidFill>
            <a:prstDash val="solid"/>
            <a:round/>
            <a:headEnd len="sm" w="sm" type="none"/>
            <a:tailEnd len="sm" w="sm" type="none"/>
          </a:ln>
        </p:spPr>
      </p:sp>
      <p:sp>
        <p:nvSpPr>
          <p:cNvPr id="54" name="Google Shape;54;p5"/>
          <p:cNvSpPr txBox="1"/>
          <p:nvPr>
            <p:ph idx="6" type="body"/>
          </p:nvPr>
        </p:nvSpPr>
        <p:spPr>
          <a:xfrm>
            <a:off x="4663225" y="4349873"/>
            <a:ext cx="4026900" cy="2700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sz="800"/>
            </a:lvl1pPr>
            <a:lvl2pPr indent="-279400" lvl="1" marL="914400" algn="ctr">
              <a:spcBef>
                <a:spcPts val="0"/>
              </a:spcBef>
              <a:spcAft>
                <a:spcPts val="0"/>
              </a:spcAft>
              <a:buSzPts val="800"/>
              <a:buChar char="○"/>
              <a:defRPr sz="800"/>
            </a:lvl2pPr>
            <a:lvl3pPr indent="-279400" lvl="2" marL="1371600" algn="ctr">
              <a:spcBef>
                <a:spcPts val="0"/>
              </a:spcBef>
              <a:spcAft>
                <a:spcPts val="0"/>
              </a:spcAft>
              <a:buSzPts val="800"/>
              <a:buChar char="■"/>
              <a:defRPr sz="800"/>
            </a:lvl3pPr>
            <a:lvl4pPr indent="-279400" lvl="3" marL="1828800" algn="ctr">
              <a:spcBef>
                <a:spcPts val="0"/>
              </a:spcBef>
              <a:spcAft>
                <a:spcPts val="0"/>
              </a:spcAft>
              <a:buSzPts val="800"/>
              <a:buChar char="●"/>
              <a:defRPr sz="800"/>
            </a:lvl4pPr>
            <a:lvl5pPr indent="-279400" lvl="4" marL="2286000" algn="ctr">
              <a:spcBef>
                <a:spcPts val="0"/>
              </a:spcBef>
              <a:spcAft>
                <a:spcPts val="0"/>
              </a:spcAft>
              <a:buSzPts val="800"/>
              <a:buChar char="○"/>
              <a:defRPr sz="800"/>
            </a:lvl5pPr>
            <a:lvl6pPr indent="-279400" lvl="5" marL="2743200" algn="ctr">
              <a:spcBef>
                <a:spcPts val="0"/>
              </a:spcBef>
              <a:spcAft>
                <a:spcPts val="0"/>
              </a:spcAft>
              <a:buSzPts val="800"/>
              <a:buChar char="■"/>
              <a:defRPr sz="800"/>
            </a:lvl6pPr>
            <a:lvl7pPr indent="-279400" lvl="6" marL="3200400" algn="ctr">
              <a:spcBef>
                <a:spcPts val="0"/>
              </a:spcBef>
              <a:spcAft>
                <a:spcPts val="0"/>
              </a:spcAft>
              <a:buSzPts val="800"/>
              <a:buChar char="●"/>
              <a:defRPr sz="800"/>
            </a:lvl7pPr>
            <a:lvl8pPr indent="-279400" lvl="7" marL="3657600" algn="ctr">
              <a:spcBef>
                <a:spcPts val="0"/>
              </a:spcBef>
              <a:spcAft>
                <a:spcPts val="0"/>
              </a:spcAft>
              <a:buSzPts val="800"/>
              <a:buChar char="○"/>
              <a:defRPr sz="800"/>
            </a:lvl8pPr>
            <a:lvl9pPr indent="-279400" lvl="8" marL="4114800" algn="ctr">
              <a:spcBef>
                <a:spcPts val="0"/>
              </a:spcBef>
              <a:spcAft>
                <a:spcPts val="0"/>
              </a:spcAft>
              <a:buSzPts val="800"/>
              <a:buChar char="■"/>
              <a:defRPr sz="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tendance Form">
  <p:cSld name="CUSTOM_2_1">
    <p:spTree>
      <p:nvGrpSpPr>
        <p:cNvPr id="55" name="Shape 55"/>
        <p:cNvGrpSpPr/>
        <p:nvPr/>
      </p:nvGrpSpPr>
      <p:grpSpPr>
        <a:xfrm>
          <a:off x="0" y="0"/>
          <a:ext cx="0" cy="0"/>
          <a:chOff x="0" y="0"/>
          <a:chExt cx="0" cy="0"/>
        </a:xfrm>
      </p:grpSpPr>
      <p:sp>
        <p:nvSpPr>
          <p:cNvPr id="56" name="Google Shape;56;p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7" name="Google Shape;5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6"/>
          <p:cNvSpPr txBox="1"/>
          <p:nvPr>
            <p:ph idx="1" type="body"/>
          </p:nvPr>
        </p:nvSpPr>
        <p:spPr>
          <a:xfrm>
            <a:off x="311700" y="1661325"/>
            <a:ext cx="3927900" cy="841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Space Mono"/>
              <a:buChar char="●"/>
              <a:defRPr>
                <a:latin typeface="Space Mono"/>
                <a:ea typeface="Space Mono"/>
                <a:cs typeface="Space Mono"/>
                <a:sym typeface="Space Mono"/>
              </a:defRPr>
            </a:lvl1pPr>
            <a:lvl2pPr indent="-304800" lvl="1" marL="914400">
              <a:spcBef>
                <a:spcPts val="0"/>
              </a:spcBef>
              <a:spcAft>
                <a:spcPts val="0"/>
              </a:spcAft>
              <a:buSzPts val="1200"/>
              <a:buFont typeface="Space Mono"/>
              <a:buChar char="○"/>
              <a:defRPr>
                <a:latin typeface="Space Mono"/>
                <a:ea typeface="Space Mono"/>
                <a:cs typeface="Space Mono"/>
                <a:sym typeface="Space Mono"/>
              </a:defRPr>
            </a:lvl2pPr>
            <a:lvl3pPr indent="-304800" lvl="2" marL="1371600">
              <a:spcBef>
                <a:spcPts val="0"/>
              </a:spcBef>
              <a:spcAft>
                <a:spcPts val="0"/>
              </a:spcAft>
              <a:buSzPts val="1200"/>
              <a:buFont typeface="Space Mono"/>
              <a:buChar char="■"/>
              <a:defRPr>
                <a:latin typeface="Space Mono"/>
                <a:ea typeface="Space Mono"/>
                <a:cs typeface="Space Mono"/>
                <a:sym typeface="Space Mono"/>
              </a:defRPr>
            </a:lvl3pPr>
            <a:lvl4pPr indent="-304800" lvl="3" marL="1828800">
              <a:spcBef>
                <a:spcPts val="0"/>
              </a:spcBef>
              <a:spcAft>
                <a:spcPts val="0"/>
              </a:spcAft>
              <a:buSzPts val="1200"/>
              <a:buFont typeface="Space Mono"/>
              <a:buChar char="●"/>
              <a:defRPr>
                <a:latin typeface="Space Mono"/>
                <a:ea typeface="Space Mono"/>
                <a:cs typeface="Space Mono"/>
                <a:sym typeface="Space Mono"/>
              </a:defRPr>
            </a:lvl4pPr>
            <a:lvl5pPr indent="-304800" lvl="4" marL="2286000">
              <a:spcBef>
                <a:spcPts val="0"/>
              </a:spcBef>
              <a:spcAft>
                <a:spcPts val="0"/>
              </a:spcAft>
              <a:buSzPts val="1200"/>
              <a:buFont typeface="Space Mono"/>
              <a:buChar char="○"/>
              <a:defRPr>
                <a:latin typeface="Space Mono"/>
                <a:ea typeface="Space Mono"/>
                <a:cs typeface="Space Mono"/>
                <a:sym typeface="Space Mono"/>
              </a:defRPr>
            </a:lvl5pPr>
            <a:lvl6pPr indent="-304800" lvl="5" marL="2743200">
              <a:spcBef>
                <a:spcPts val="0"/>
              </a:spcBef>
              <a:spcAft>
                <a:spcPts val="0"/>
              </a:spcAft>
              <a:buSzPts val="1200"/>
              <a:buFont typeface="Space Mono"/>
              <a:buChar char="■"/>
              <a:defRPr>
                <a:latin typeface="Space Mono"/>
                <a:ea typeface="Space Mono"/>
                <a:cs typeface="Space Mono"/>
                <a:sym typeface="Space Mono"/>
              </a:defRPr>
            </a:lvl6pPr>
            <a:lvl7pPr indent="-304800" lvl="6" marL="3200400">
              <a:spcBef>
                <a:spcPts val="0"/>
              </a:spcBef>
              <a:spcAft>
                <a:spcPts val="0"/>
              </a:spcAft>
              <a:buSzPts val="1200"/>
              <a:buFont typeface="Space Mono"/>
              <a:buChar char="●"/>
              <a:defRPr>
                <a:latin typeface="Space Mono"/>
                <a:ea typeface="Space Mono"/>
                <a:cs typeface="Space Mono"/>
                <a:sym typeface="Space Mono"/>
              </a:defRPr>
            </a:lvl7pPr>
            <a:lvl8pPr indent="-304800" lvl="7" marL="3657600">
              <a:spcBef>
                <a:spcPts val="0"/>
              </a:spcBef>
              <a:spcAft>
                <a:spcPts val="0"/>
              </a:spcAft>
              <a:buSzPts val="1200"/>
              <a:buFont typeface="Space Mono"/>
              <a:buChar char="○"/>
              <a:defRPr>
                <a:latin typeface="Space Mono"/>
                <a:ea typeface="Space Mono"/>
                <a:cs typeface="Space Mono"/>
                <a:sym typeface="Space Mono"/>
              </a:defRPr>
            </a:lvl8pPr>
            <a:lvl9pPr indent="-304800" lvl="8" marL="4114800">
              <a:spcBef>
                <a:spcPts val="0"/>
              </a:spcBef>
              <a:spcAft>
                <a:spcPts val="0"/>
              </a:spcAft>
              <a:buSzPts val="1200"/>
              <a:buFont typeface="Space Mono"/>
              <a:buChar char="■"/>
              <a:defRPr>
                <a:latin typeface="Space Mono"/>
                <a:ea typeface="Space Mono"/>
                <a:cs typeface="Space Mono"/>
                <a:sym typeface="Space Mono"/>
              </a:defRPr>
            </a:lvl9pPr>
          </a:lstStyle>
          <a:p/>
        </p:txBody>
      </p:sp>
      <p:sp>
        <p:nvSpPr>
          <p:cNvPr id="59" name="Google Shape;59;p6"/>
          <p:cNvSpPr txBox="1"/>
          <p:nvPr>
            <p:ph idx="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0" name="Google Shape;60;p6"/>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61" name="Google Shape;61;p6"/>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62" name="Google Shape;62;p6"/>
          <p:cNvSpPr/>
          <p:nvPr>
            <p:ph idx="5" type="pic"/>
          </p:nvPr>
        </p:nvSpPr>
        <p:spPr>
          <a:xfrm>
            <a:off x="4471807" y="1094213"/>
            <a:ext cx="4360500" cy="3648300"/>
          </a:xfrm>
          <a:prstGeom prst="rect">
            <a:avLst/>
          </a:prstGeom>
          <a:noFill/>
          <a:ln cap="flat" cmpd="sng" w="19050">
            <a:solidFill>
              <a:schemeClr val="dk2"/>
            </a:solidFill>
            <a:prstDash val="solid"/>
            <a:round/>
            <a:headEnd len="sm" w="sm" type="none"/>
            <a:tailEnd len="sm" w="sm" type="none"/>
          </a:ln>
        </p:spPr>
      </p:sp>
      <p:sp>
        <p:nvSpPr>
          <p:cNvPr id="63" name="Google Shape;63;p6"/>
          <p:cNvSpPr txBox="1"/>
          <p:nvPr/>
        </p:nvSpPr>
        <p:spPr>
          <a:xfrm>
            <a:off x="311700" y="1174125"/>
            <a:ext cx="382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777777"/>
                </a:solidFill>
                <a:latin typeface="Open Sans"/>
                <a:ea typeface="Open Sans"/>
                <a:cs typeface="Open Sans"/>
                <a:sym typeface="Open Sans"/>
              </a:rPr>
              <a:t>For Event Attended:</a:t>
            </a:r>
            <a:endParaRPr sz="2000">
              <a:solidFill>
                <a:srgbClr val="777777"/>
              </a:solidFill>
              <a:latin typeface="Open Sans"/>
              <a:ea typeface="Open Sans"/>
              <a:cs typeface="Open Sans"/>
              <a:sym typeface="Ope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PN Access">
  <p:cSld name="TITLE_AND_BODY_1">
    <p:spTree>
      <p:nvGrpSpPr>
        <p:cNvPr id="64" name="Shape 64"/>
        <p:cNvGrpSpPr/>
        <p:nvPr/>
      </p:nvGrpSpPr>
      <p:grpSpPr>
        <a:xfrm>
          <a:off x="0" y="0"/>
          <a:ext cx="0" cy="0"/>
          <a:chOff x="0" y="0"/>
          <a:chExt cx="0" cy="0"/>
        </a:xfrm>
      </p:grpSpPr>
      <p:sp>
        <p:nvSpPr>
          <p:cNvPr id="65" name="Google Shape;65;p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6" name="Google Shape;66;p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67" name="Google Shape;67;p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68" name="Google Shape;68;p7"/>
          <p:cNvSpPr txBox="1"/>
          <p:nvPr/>
        </p:nvSpPr>
        <p:spPr>
          <a:xfrm>
            <a:off x="461550" y="586875"/>
            <a:ext cx="8520600" cy="5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333333"/>
                </a:solidFill>
                <a:latin typeface="Space Mono"/>
                <a:ea typeface="Space Mono"/>
                <a:cs typeface="Space Mono"/>
                <a:sym typeface="Space Mono"/>
              </a:rPr>
              <a:t>Connecting To The Environment</a:t>
            </a:r>
            <a:endParaRPr sz="2800">
              <a:solidFill>
                <a:srgbClr val="333333"/>
              </a:solidFill>
              <a:latin typeface="Space Mono"/>
              <a:ea typeface="Space Mono"/>
              <a:cs typeface="Space Mono"/>
              <a:sym typeface="Space Mono"/>
            </a:endParaRPr>
          </a:p>
        </p:txBody>
      </p:sp>
      <p:sp>
        <p:nvSpPr>
          <p:cNvPr id="69" name="Google Shape;69;p7"/>
          <p:cNvSpPr txBox="1"/>
          <p:nvPr/>
        </p:nvSpPr>
        <p:spPr>
          <a:xfrm>
            <a:off x="461550" y="1221875"/>
            <a:ext cx="5027700" cy="34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777777"/>
                </a:solidFill>
                <a:latin typeface="Open Sans"/>
                <a:ea typeface="Open Sans"/>
                <a:cs typeface="Open Sans"/>
                <a:sym typeface="Open Sans"/>
              </a:rPr>
              <a:t>Before we can get started, we’ll need you to connect to our lab’s network.</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lang="en" sz="1600">
                <a:solidFill>
                  <a:srgbClr val="777777"/>
                </a:solidFill>
                <a:latin typeface="Open Sans"/>
                <a:ea typeface="Open Sans"/>
                <a:cs typeface="Open Sans"/>
                <a:sym typeface="Open Sans"/>
              </a:rPr>
              <a:t>We’ll accomplish this via VPN. Please follow the instructions on the document available at this link: </a:t>
            </a:r>
            <a:r>
              <a:rPr lang="en" sz="1600" u="sng">
                <a:solidFill>
                  <a:schemeClr val="hlink"/>
                </a:solidFill>
                <a:latin typeface="Open Sans"/>
                <a:ea typeface="Open Sans"/>
                <a:cs typeface="Open Sans"/>
                <a:sym typeface="Open Sans"/>
                <a:hlinkClick r:id="rId2"/>
              </a:rPr>
              <a:t>https://tinyurl.com/kru5aaev</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mand">
  <p:cSld name="TITLE_AND_BODY_2">
    <p:spTree>
      <p:nvGrpSpPr>
        <p:cNvPr id="70" name="Shape 70"/>
        <p:cNvGrpSpPr/>
        <p:nvPr/>
      </p:nvGrpSpPr>
      <p:grpSpPr>
        <a:xfrm>
          <a:off x="0" y="0"/>
          <a:ext cx="0" cy="0"/>
          <a:chOff x="0" y="0"/>
          <a:chExt cx="0" cy="0"/>
        </a:xfrm>
      </p:grpSpPr>
      <p:sp>
        <p:nvSpPr>
          <p:cNvPr id="71" name="Google Shape;71;p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8"/>
          <p:cNvSpPr txBox="1"/>
          <p:nvPr>
            <p:ph idx="1" type="body"/>
          </p:nvPr>
        </p:nvSpPr>
        <p:spPr>
          <a:xfrm>
            <a:off x="311700" y="1132275"/>
            <a:ext cx="8520600" cy="5373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Clr>
                <a:schemeClr val="accent2"/>
              </a:buClr>
              <a:buSzPts val="1600"/>
              <a:buFont typeface="Space Mono"/>
              <a:buChar char="●"/>
              <a:defRPr b="1">
                <a:solidFill>
                  <a:schemeClr val="accent2"/>
                </a:solidFill>
                <a:latin typeface="Space Mono"/>
                <a:ea typeface="Space Mono"/>
                <a:cs typeface="Space Mono"/>
                <a:sym typeface="Space Mono"/>
              </a:defRPr>
            </a:lvl1pPr>
            <a:lvl2pPr indent="-304800" lvl="1" marL="9144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2pPr>
            <a:lvl3pPr indent="-304800" lvl="2" marL="13716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3pPr>
            <a:lvl4pPr indent="-304800" lvl="3" marL="18288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4pPr>
            <a:lvl5pPr indent="-304800" lvl="4" marL="22860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5pPr>
            <a:lvl6pPr indent="-304800" lvl="5" marL="27432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6pPr>
            <a:lvl7pPr indent="-304800" lvl="6" marL="32004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7pPr>
            <a:lvl8pPr indent="-304800" lvl="7" marL="36576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8pPr>
            <a:lvl9pPr indent="-304800" lvl="8" marL="4114800">
              <a:spcBef>
                <a:spcPts val="0"/>
              </a:spcBef>
              <a:spcAft>
                <a:spcPts val="0"/>
              </a:spcAft>
              <a:buClr>
                <a:schemeClr val="accent2"/>
              </a:buClr>
              <a:buSzPts val="1200"/>
              <a:buFont typeface="Space Mono"/>
              <a:buChar char="■"/>
              <a:defRPr b="1">
                <a:solidFill>
                  <a:schemeClr val="accent2"/>
                </a:solidFill>
                <a:latin typeface="Space Mono"/>
                <a:ea typeface="Space Mono"/>
                <a:cs typeface="Space Mono"/>
                <a:sym typeface="Space Mono"/>
              </a:defRPr>
            </a:lvl9pPr>
          </a:lstStyle>
          <a:p/>
        </p:txBody>
      </p:sp>
      <p:sp>
        <p:nvSpPr>
          <p:cNvPr id="73" name="Google Shape;73;p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75" name="Google Shape;75;p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
        <p:nvSpPr>
          <p:cNvPr id="76" name="Google Shape;76;p8"/>
          <p:cNvSpPr txBox="1"/>
          <p:nvPr>
            <p:ph idx="4" type="body"/>
          </p:nvPr>
        </p:nvSpPr>
        <p:spPr>
          <a:xfrm>
            <a:off x="311700" y="1760641"/>
            <a:ext cx="8520600" cy="2967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9" name="Google Shape;79;p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0" name="Google Shape;80;p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81" name="Google Shape;81;p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0"/>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 name="Google Shape;85;p1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6" name="Google Shape;86;p1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87" name="Google Shape;87;p1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8" name="Shape 88"/>
        <p:cNvGrpSpPr/>
        <p:nvPr/>
      </p:nvGrpSpPr>
      <p:grpSpPr>
        <a:xfrm>
          <a:off x="0" y="0"/>
          <a:ext cx="0" cy="0"/>
          <a:chOff x="0" y="0"/>
          <a:chExt cx="0" cy="0"/>
        </a:xfrm>
      </p:grpSpPr>
      <p:sp>
        <p:nvSpPr>
          <p:cNvPr id="89" name="Google Shape;89;p1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1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1" name="Google Shape;91;p1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2" name="Google Shape;92;p1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93" name="Google Shape;93;p11"/>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94" name="Google Shape;94;p11"/>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1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98" name="Google Shape;98;p1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99" name="Google Shape;99;p1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0" name="Shape 100"/>
        <p:cNvGrpSpPr/>
        <p:nvPr/>
      </p:nvGrpSpPr>
      <p:grpSpPr>
        <a:xfrm>
          <a:off x="0" y="0"/>
          <a:ext cx="0" cy="0"/>
          <a:chOff x="0" y="0"/>
          <a:chExt cx="0" cy="0"/>
        </a:xfrm>
      </p:grpSpPr>
      <p:sp>
        <p:nvSpPr>
          <p:cNvPr id="101" name="Google Shape;101;p1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1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3" name="Google Shape;103;p1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04" name="Google Shape;104;p1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05" name="Google Shape;105;p1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6" name="Shape 106"/>
        <p:cNvGrpSpPr/>
        <p:nvPr/>
      </p:nvGrpSpPr>
      <p:grpSpPr>
        <a:xfrm>
          <a:off x="0" y="0"/>
          <a:ext cx="0" cy="0"/>
          <a:chOff x="0" y="0"/>
          <a:chExt cx="0" cy="0"/>
        </a:xfrm>
      </p:grpSpPr>
      <p:sp>
        <p:nvSpPr>
          <p:cNvPr id="107" name="Google Shape;107;p1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8" name="Google Shape;108;p1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09" name="Google Shape;109;p1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10" name="Google Shape;110;p1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1" name="Shape 111"/>
        <p:cNvGrpSpPr/>
        <p:nvPr/>
      </p:nvGrpSpPr>
      <p:grpSpPr>
        <a:xfrm>
          <a:off x="0" y="0"/>
          <a:ext cx="0" cy="0"/>
          <a:chOff x="0" y="0"/>
          <a:chExt cx="0" cy="0"/>
        </a:xfrm>
      </p:grpSpPr>
      <p:sp>
        <p:nvSpPr>
          <p:cNvPr id="112" name="Google Shape;112;p1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a:lvl1pPr>
          </a:lstStyle>
          <a:p/>
        </p:txBody>
      </p:sp>
      <p:sp>
        <p:nvSpPr>
          <p:cNvPr id="113" name="Google Shape;113;p1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14" name="Google Shape;114;p1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15" name="Google Shape;115;p1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sp>
        <p:nvSpPr>
          <p:cNvPr id="117" name="Google Shape;117;p1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1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119" name="Google Shape;119;p1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0" name="Google Shape;120;p16"/>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21" name="Google Shape;121;p16"/>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25" name="Google Shape;125;p1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5F5F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1pPr>
            <a:lvl2pPr lvl="1">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2pPr>
            <a:lvl3pPr lvl="2">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3pPr>
            <a:lvl4pPr lvl="3">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4pPr>
            <a:lvl5pPr lvl="4">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5pPr>
            <a:lvl6pPr lvl="5">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6pPr>
            <a:lvl7pPr lvl="6">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7pPr>
            <a:lvl8pPr lvl="7">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8pPr>
            <a:lvl9pPr lvl="8">
              <a:spcBef>
                <a:spcPts val="0"/>
              </a:spcBef>
              <a:spcAft>
                <a:spcPts val="0"/>
              </a:spcAft>
              <a:buClr>
                <a:srgbClr val="333333"/>
              </a:buClr>
              <a:buSzPts val="2800"/>
              <a:buFont typeface="Space Mono"/>
              <a:buNone/>
              <a:defRPr sz="2800">
                <a:solidFill>
                  <a:srgbClr val="333333"/>
                </a:solidFill>
                <a:latin typeface="Space Mono"/>
                <a:ea typeface="Space Mono"/>
                <a:cs typeface="Space Mono"/>
                <a:sym typeface="Space Mono"/>
              </a:defRPr>
            </a:lvl9pPr>
          </a:lstStyle>
          <a:p/>
        </p:txBody>
      </p:sp>
      <p:sp>
        <p:nvSpPr>
          <p:cNvPr id="7" name="Google Shape;7;p1"/>
          <p:cNvSpPr txBox="1"/>
          <p:nvPr>
            <p:ph idx="1" type="body"/>
          </p:nvPr>
        </p:nvSpPr>
        <p:spPr>
          <a:xfrm>
            <a:off x="311700" y="11322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15000"/>
              </a:lnSpc>
              <a:spcBef>
                <a:spcPts val="0"/>
              </a:spcBef>
              <a:spcAft>
                <a:spcPts val="0"/>
              </a:spcAft>
              <a:buClr>
                <a:srgbClr val="777777"/>
              </a:buClr>
              <a:buSzPts val="1600"/>
              <a:buFont typeface="Open Sans"/>
              <a:buChar char="●"/>
              <a:defRPr sz="1600">
                <a:solidFill>
                  <a:srgbClr val="777777"/>
                </a:solidFill>
                <a:latin typeface="Open Sans"/>
                <a:ea typeface="Open Sans"/>
                <a:cs typeface="Open Sans"/>
                <a:sym typeface="Open Sans"/>
              </a:defRPr>
            </a:lvl1pPr>
            <a:lvl2pPr indent="-304800" lvl="1" marL="9144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2pPr>
            <a:lvl3pPr indent="-304800" lvl="2" marL="13716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3pPr>
            <a:lvl4pPr indent="-304800" lvl="3" marL="18288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4pPr>
            <a:lvl5pPr indent="-304800" lvl="4" marL="22860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5pPr>
            <a:lvl6pPr indent="-304800" lvl="5" marL="27432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6pPr>
            <a:lvl7pPr indent="-304800" lvl="6" marL="32004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7pPr>
            <a:lvl8pPr indent="-304800" lvl="7" marL="36576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8pPr>
            <a:lvl9pPr indent="-304800" lvl="8" marL="4114800">
              <a:lnSpc>
                <a:spcPct val="115000"/>
              </a:lnSpc>
              <a:spcBef>
                <a:spcPts val="0"/>
              </a:spcBef>
              <a:spcAft>
                <a:spcPts val="0"/>
              </a:spcAft>
              <a:buClr>
                <a:srgbClr val="777777"/>
              </a:buClr>
              <a:buSzPts val="1200"/>
              <a:buFont typeface="Open Sans"/>
              <a:buChar char="■"/>
              <a:defRPr sz="1200">
                <a:solidFill>
                  <a:srgbClr val="777777"/>
                </a:solidFill>
                <a:latin typeface="Open Sans"/>
                <a:ea typeface="Open Sans"/>
                <a:cs typeface="Open Sans"/>
                <a:sym typeface="Open Sans"/>
              </a:defRPr>
            </a:lvl9pPr>
          </a:lstStyle>
          <a:p/>
        </p:txBody>
      </p:sp>
      <p:sp>
        <p:nvSpPr>
          <p:cNvPr id="8" name="Google Shape;8;p1"/>
          <p:cNvSpPr txBox="1"/>
          <p:nvPr>
            <p:ph idx="12" type="sldNum"/>
          </p:nvPr>
        </p:nvSpPr>
        <p:spPr>
          <a:xfrm>
            <a:off x="8625927" y="4818997"/>
            <a:ext cx="3759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n"/>
              <a:t>‹#›</a:t>
            </a:fld>
            <a:endParaRPr/>
          </a:p>
        </p:txBody>
      </p:sp>
      <p:sp>
        <p:nvSpPr>
          <p:cNvPr id="9" name="Google Shape;9;p1"/>
          <p:cNvSpPr txBox="1"/>
          <p:nvPr>
            <p:ph idx="2" type="sldNum"/>
          </p:nvPr>
        </p:nvSpPr>
        <p:spPr>
          <a:xfrm>
            <a:off x="4338449" y="4819000"/>
            <a:ext cx="4671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2025</a:t>
            </a:r>
            <a:endParaRPr/>
          </a:p>
        </p:txBody>
      </p:sp>
      <p:sp>
        <p:nvSpPr>
          <p:cNvPr id="10" name="Google Shape;10;p1"/>
          <p:cNvSpPr txBox="1"/>
          <p:nvPr>
            <p:ph idx="3" type="sldNum"/>
          </p:nvPr>
        </p:nvSpPr>
        <p:spPr>
          <a:xfrm>
            <a:off x="174475" y="4819000"/>
            <a:ext cx="786000" cy="270000"/>
          </a:xfrm>
          <a:prstGeom prst="rect">
            <a:avLst/>
          </a:prstGeom>
          <a:noFill/>
          <a:ln>
            <a:noFill/>
          </a:ln>
        </p:spPr>
        <p:txBody>
          <a:bodyPr anchorCtr="0" anchor="ctr" bIns="91425" lIns="91425" spcFirstLastPara="1" rIns="91425" wrap="square" tIns="91425">
            <a:noAutofit/>
          </a:bodyPr>
          <a:lstStyle>
            <a:lvl1pPr lvl="0" algn="ctr">
              <a:buNone/>
              <a:defRPr sz="800">
                <a:solidFill>
                  <a:schemeClr val="dk2"/>
                </a:solidFill>
                <a:latin typeface="Open Sans"/>
                <a:ea typeface="Open Sans"/>
                <a:cs typeface="Open Sans"/>
                <a:sym typeface="Open Sans"/>
              </a:defRPr>
            </a:lvl1pPr>
            <a:lvl2pPr lvl="1" algn="ctr">
              <a:buNone/>
              <a:defRPr sz="800">
                <a:solidFill>
                  <a:schemeClr val="dk2"/>
                </a:solidFill>
                <a:latin typeface="Open Sans"/>
                <a:ea typeface="Open Sans"/>
                <a:cs typeface="Open Sans"/>
                <a:sym typeface="Open Sans"/>
              </a:defRPr>
            </a:lvl2pPr>
            <a:lvl3pPr lvl="2" algn="ctr">
              <a:buNone/>
              <a:defRPr sz="800">
                <a:solidFill>
                  <a:schemeClr val="dk2"/>
                </a:solidFill>
                <a:latin typeface="Open Sans"/>
                <a:ea typeface="Open Sans"/>
                <a:cs typeface="Open Sans"/>
                <a:sym typeface="Open Sans"/>
              </a:defRPr>
            </a:lvl3pPr>
            <a:lvl4pPr lvl="3" algn="ctr">
              <a:buNone/>
              <a:defRPr sz="800">
                <a:solidFill>
                  <a:schemeClr val="dk2"/>
                </a:solidFill>
                <a:latin typeface="Open Sans"/>
                <a:ea typeface="Open Sans"/>
                <a:cs typeface="Open Sans"/>
                <a:sym typeface="Open Sans"/>
              </a:defRPr>
            </a:lvl4pPr>
            <a:lvl5pPr lvl="4" algn="ctr">
              <a:buNone/>
              <a:defRPr sz="800">
                <a:solidFill>
                  <a:schemeClr val="dk2"/>
                </a:solidFill>
                <a:latin typeface="Open Sans"/>
                <a:ea typeface="Open Sans"/>
                <a:cs typeface="Open Sans"/>
                <a:sym typeface="Open Sans"/>
              </a:defRPr>
            </a:lvl5pPr>
            <a:lvl6pPr lvl="5" algn="ctr">
              <a:buNone/>
              <a:defRPr sz="800">
                <a:solidFill>
                  <a:schemeClr val="dk2"/>
                </a:solidFill>
                <a:latin typeface="Open Sans"/>
                <a:ea typeface="Open Sans"/>
                <a:cs typeface="Open Sans"/>
                <a:sym typeface="Open Sans"/>
              </a:defRPr>
            </a:lvl6pPr>
            <a:lvl7pPr lvl="6" algn="ctr">
              <a:buNone/>
              <a:defRPr sz="800">
                <a:solidFill>
                  <a:schemeClr val="dk2"/>
                </a:solidFill>
                <a:latin typeface="Open Sans"/>
                <a:ea typeface="Open Sans"/>
                <a:cs typeface="Open Sans"/>
                <a:sym typeface="Open Sans"/>
              </a:defRPr>
            </a:lvl7pPr>
            <a:lvl8pPr lvl="7" algn="ctr">
              <a:buNone/>
              <a:defRPr sz="800">
                <a:solidFill>
                  <a:schemeClr val="dk2"/>
                </a:solidFill>
                <a:latin typeface="Open Sans"/>
                <a:ea typeface="Open Sans"/>
                <a:cs typeface="Open Sans"/>
                <a:sym typeface="Open Sans"/>
              </a:defRPr>
            </a:lvl8pPr>
            <a:lvl9pPr lvl="8" algn="ctr">
              <a:buNone/>
              <a:defRPr sz="800">
                <a:solidFill>
                  <a:schemeClr val="dk2"/>
                </a:solidFill>
                <a:latin typeface="Open Sans"/>
                <a:ea typeface="Open Sans"/>
                <a:cs typeface="Open Sans"/>
                <a:sym typeface="Open Sans"/>
              </a:defRPr>
            </a:lvl9pPr>
          </a:lstStyle>
          <a:p>
            <a:pPr indent="0" lvl="0" marL="0" rtl="0" algn="ctr">
              <a:spcBef>
                <a:spcPts val="0"/>
              </a:spcBef>
              <a:spcAft>
                <a:spcPts val="0"/>
              </a:spcAft>
              <a:buNone/>
            </a:pPr>
            <a:r>
              <a:rPr lang="en"/>
              <a:t>Cyber @ UCI</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hyperlink" Target="http://ctfd.cyberuci.com" TargetMode="External"/><Relationship Id="rId4" Type="http://schemas.openxmlformats.org/officeDocument/2006/relationships/hyperlink" Target="http://vuln-site.cyberuci.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github.com/semgrep/semgrep" TargetMode="External"/><Relationship Id="rId4" Type="http://schemas.openxmlformats.org/officeDocument/2006/relationships/hyperlink" Target="https://github.com/AikidoSec" TargetMode="External"/><Relationship Id="rId9" Type="http://schemas.openxmlformats.org/officeDocument/2006/relationships/hyperlink" Target="https://github.com/FuzzingLabs/fuzzforge_ai" TargetMode="External"/><Relationship Id="rId5" Type="http://schemas.openxmlformats.org/officeDocument/2006/relationships/hyperlink" Target="https://github.com/AikidoSec/safe-chain" TargetMode="External"/><Relationship Id="rId6" Type="http://schemas.openxmlformats.org/officeDocument/2006/relationships/hyperlink" Target="https://www.aikido.dev/scanners/open-source-dependency-scanning-sca" TargetMode="External"/><Relationship Id="rId7" Type="http://schemas.openxmlformats.org/officeDocument/2006/relationships/hyperlink" Target="https://www.zaproxy.org/" TargetMode="External"/><Relationship Id="rId8" Type="http://schemas.openxmlformats.org/officeDocument/2006/relationships/hyperlink" Target="https://trivy.dev/latest/" TargetMode="External"/></Relationships>
</file>

<file path=ppt/slides/_rels/slide25.xml.rels><?xml version="1.0" encoding="UTF-8" standalone="yes"?><Relationships xmlns="http://schemas.openxmlformats.org/package/2006/relationships"><Relationship Id="rId10" Type="http://schemas.openxmlformats.org/officeDocument/2006/relationships/hyperlink" Target="https://docs.gitlab.com/ee/user/application_security/dependency_scanning/" TargetMode="External"/><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hyperlink" Target="https://owasp.org/Top10/" TargetMode="External"/><Relationship Id="rId4" Type="http://schemas.openxmlformats.org/officeDocument/2006/relationships/hyperlink" Target="https://owasp.org/www-project-api-security/" TargetMode="External"/><Relationship Id="rId9" Type="http://schemas.openxmlformats.org/officeDocument/2006/relationships/hyperlink" Target="https://cheatsheetseries.owasp.org/cheatsheets/Forgot_Password_Cheat_Sheet.html" TargetMode="External"/><Relationship Id="rId5" Type="http://schemas.openxmlformats.org/officeDocument/2006/relationships/hyperlink" Target="https://apisecurity.io/encyclopedia/content/owasp/owasp-api-security-top-10.htm" TargetMode="External"/><Relationship Id="rId6" Type="http://schemas.openxmlformats.org/officeDocument/2006/relationships/hyperlink" Target="https://snyk.io/learn/application-security/" TargetMode="External"/><Relationship Id="rId7" Type="http://schemas.openxmlformats.org/officeDocument/2006/relationships/hyperlink" Target="https://snyk.io/blog/10-react-security-best-practices/" TargetMode="External"/><Relationship Id="rId8" Type="http://schemas.openxmlformats.org/officeDocument/2006/relationships/hyperlink" Target="https://nodejs.org/en/docs/guides/securit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hyperlink" Target="http://discord.cyberuci.com"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ctrTitle"/>
          </p:nvPr>
        </p:nvSpPr>
        <p:spPr>
          <a:xfrm>
            <a:off x="311700" y="744575"/>
            <a:ext cx="71697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Cyber @ UCI</a:t>
            </a:r>
            <a:endParaRPr/>
          </a:p>
        </p:txBody>
      </p:sp>
      <p:sp>
        <p:nvSpPr>
          <p:cNvPr id="131" name="Google Shape;131;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Secure Software:</a:t>
            </a:r>
            <a:br>
              <a:rPr lang="en"/>
            </a:br>
            <a:r>
              <a:rPr lang="en"/>
              <a:t>Intro to Application Security</a:t>
            </a:r>
            <a:endParaRPr/>
          </a:p>
        </p:txBody>
      </p:sp>
      <p:sp>
        <p:nvSpPr>
          <p:cNvPr id="132" name="Google Shape;132;p1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33" name="Google Shape;133;p1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34" name="Google Shape;134;p1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0" name="Google Shape;14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Agenda</a:t>
            </a:r>
            <a:endParaRPr/>
          </a:p>
        </p:txBody>
      </p:sp>
      <p:sp>
        <p:nvSpPr>
          <p:cNvPr id="141" name="Google Shape;141;p1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142" name="Google Shape;142;p19"/>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(Application) Security?</a:t>
            </a:r>
            <a:endParaRPr/>
          </a:p>
          <a:p>
            <a:pPr indent="-323850" lvl="1" marL="914400" rtl="0" algn="l">
              <a:spcBef>
                <a:spcPts val="0"/>
              </a:spcBef>
              <a:spcAft>
                <a:spcPts val="0"/>
              </a:spcAft>
              <a:buSzPts val="1500"/>
              <a:buChar char="○"/>
            </a:pPr>
            <a:r>
              <a:rPr lang="en"/>
              <a:t>In Context of WebJam</a:t>
            </a:r>
            <a:br>
              <a:rPr lang="en" sz="2000"/>
            </a:br>
            <a:endParaRPr sz="2000"/>
          </a:p>
          <a:p>
            <a:pPr indent="-342900" lvl="0" marL="457200" rtl="0" algn="l">
              <a:spcBef>
                <a:spcPts val="0"/>
              </a:spcBef>
              <a:spcAft>
                <a:spcPts val="0"/>
              </a:spcAft>
              <a:buSzPts val="1800"/>
              <a:buChar char="★"/>
            </a:pPr>
            <a:r>
              <a:rPr lang="en"/>
              <a:t>Application Security Basics</a:t>
            </a:r>
            <a:br>
              <a:rPr lang="en"/>
            </a:br>
            <a:endParaRPr/>
          </a:p>
          <a:p>
            <a:pPr indent="-342900" lvl="0" marL="457200" rtl="0" algn="l">
              <a:spcBef>
                <a:spcPts val="0"/>
              </a:spcBef>
              <a:spcAft>
                <a:spcPts val="0"/>
              </a:spcAft>
              <a:buSzPts val="1800"/>
              <a:buChar char="★"/>
            </a:pPr>
            <a:r>
              <a:rPr lang="en"/>
              <a:t>Low-Hanging Fruits</a:t>
            </a:r>
            <a:endParaRPr/>
          </a:p>
          <a:p>
            <a:pPr indent="-298450" lvl="1" marL="914400" rtl="0" algn="l">
              <a:spcBef>
                <a:spcPts val="0"/>
              </a:spcBef>
              <a:spcAft>
                <a:spcPts val="0"/>
              </a:spcAft>
              <a:buSzPts val="1100"/>
              <a:buChar char="○"/>
            </a:pPr>
            <a:r>
              <a:rPr lang="en"/>
              <a:t>Exposed Secrets / Credentials</a:t>
            </a:r>
            <a:endParaRPr/>
          </a:p>
          <a:p>
            <a:pPr indent="-298450" lvl="1" marL="914400" rtl="0" algn="l">
              <a:spcBef>
                <a:spcPts val="0"/>
              </a:spcBef>
              <a:spcAft>
                <a:spcPts val="0"/>
              </a:spcAft>
              <a:buSzPts val="1100"/>
              <a:buChar char="○"/>
            </a:pPr>
            <a:r>
              <a:rPr lang="en"/>
              <a:t>SQL Injection</a:t>
            </a:r>
            <a:endParaRPr/>
          </a:p>
          <a:p>
            <a:pPr indent="-304800" lvl="1" marL="914400" rtl="0" algn="l">
              <a:spcBef>
                <a:spcPts val="0"/>
              </a:spcBef>
              <a:spcAft>
                <a:spcPts val="0"/>
              </a:spcAft>
              <a:buSzPts val="1200"/>
              <a:buChar char="○"/>
            </a:pPr>
            <a:r>
              <a:rPr lang="en"/>
              <a:t>Cross-Site Scripting</a:t>
            </a:r>
            <a:endParaRPr/>
          </a:p>
          <a:p>
            <a:pPr indent="-304800" lvl="1" marL="914400" rtl="0" algn="l">
              <a:spcBef>
                <a:spcPts val="0"/>
              </a:spcBef>
              <a:spcAft>
                <a:spcPts val="0"/>
              </a:spcAft>
              <a:buSzPts val="1200"/>
              <a:buChar char="○"/>
            </a:pPr>
            <a:r>
              <a:rPr lang="en"/>
              <a:t>Local File Inclusion</a:t>
            </a:r>
            <a:endParaRPr/>
          </a:p>
          <a:p>
            <a:pPr indent="-304800" lvl="1" marL="914400" rtl="0" algn="l">
              <a:spcBef>
                <a:spcPts val="0"/>
              </a:spcBef>
              <a:spcAft>
                <a:spcPts val="0"/>
              </a:spcAft>
              <a:buSzPts val="1200"/>
              <a:buChar char="○"/>
            </a:pPr>
            <a:r>
              <a:rPr lang="en"/>
              <a:t>Insecure Direct Object References </a:t>
            </a:r>
            <a:br>
              <a:rPr lang="en"/>
            </a:br>
            <a:endParaRPr/>
          </a:p>
          <a:p>
            <a:pPr indent="-342900" lvl="0" marL="457200" rtl="0" algn="l">
              <a:spcBef>
                <a:spcPts val="0"/>
              </a:spcBef>
              <a:spcAft>
                <a:spcPts val="0"/>
              </a:spcAft>
              <a:buSzPts val="1800"/>
              <a:buChar char="★"/>
            </a:pPr>
            <a:r>
              <a:rPr lang="en"/>
              <a:t>Mini CTF</a:t>
            </a:r>
            <a:endParaRPr/>
          </a:p>
        </p:txBody>
      </p:sp>
      <p:sp>
        <p:nvSpPr>
          <p:cNvPr id="143" name="Google Shape;143;p1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 Disclaimer </a:t>
            </a:r>
            <a:endParaRPr/>
          </a:p>
        </p:txBody>
      </p:sp>
      <p:sp>
        <p:nvSpPr>
          <p:cNvPr id="149" name="Google Shape;149;p20"/>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should </a:t>
            </a:r>
            <a:r>
              <a:rPr lang="en" u="sng"/>
              <a:t>only</a:t>
            </a:r>
            <a:r>
              <a:rPr lang="en"/>
              <a:t> practice the techniques demonstrated today through official websites that have dedicated exercises and training for it (or explicitly grant you permission to do so), or on your own code and environment.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If you do any vulnerability scanning and testing on open-source applications, you should report it to the maintainers in a responsible manner. :)</a:t>
            </a:r>
            <a:br>
              <a:rPr lang="en"/>
            </a:br>
            <a:endParaRPr/>
          </a:p>
          <a:p>
            <a:pPr indent="0" lvl="0" marL="0" rtl="0" algn="l">
              <a:spcBef>
                <a:spcPts val="1200"/>
              </a:spcBef>
              <a:spcAft>
                <a:spcPts val="0"/>
              </a:spcAft>
              <a:buNone/>
            </a:pPr>
            <a:r>
              <a:rPr lang="en"/>
              <a:t>If you </a:t>
            </a:r>
            <a:r>
              <a:rPr lang="en"/>
              <a:t>decide to search more about hacking, please do so ethically. :) </a:t>
            </a:r>
            <a:endParaRPr/>
          </a:p>
          <a:p>
            <a:pPr indent="0" lvl="0" marL="0" rtl="0" algn="l">
              <a:spcBef>
                <a:spcPts val="1200"/>
              </a:spcBef>
              <a:spcAft>
                <a:spcPts val="1200"/>
              </a:spcAft>
              <a:buNone/>
            </a:pPr>
            <a:r>
              <a:t/>
            </a:r>
            <a:endParaRPr/>
          </a:p>
        </p:txBody>
      </p:sp>
      <p:sp>
        <p:nvSpPr>
          <p:cNvPr id="150" name="Google Shape;150;p2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1" name="Google Shape;151;p2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52" name="Google Shape;152;p2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Application Security (AppSec)?</a:t>
            </a:r>
            <a:endParaRPr/>
          </a:p>
        </p:txBody>
      </p:sp>
      <p:sp>
        <p:nvSpPr>
          <p:cNvPr id="158" name="Google Shape;158;p21"/>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Subfield of security that focuses on protecting </a:t>
            </a:r>
            <a:r>
              <a:rPr b="1" i="1" lang="en"/>
              <a:t>software applications and systems</a:t>
            </a:r>
            <a:r>
              <a:rPr lang="en"/>
              <a:t> against both unintentional failures and malicious threats</a:t>
            </a:r>
            <a:endParaRPr/>
          </a:p>
          <a:p>
            <a:pPr indent="-317500" lvl="1" marL="914400" rtl="0" algn="l">
              <a:spcBef>
                <a:spcPts val="1200"/>
              </a:spcBef>
              <a:spcAft>
                <a:spcPts val="0"/>
              </a:spcAft>
              <a:buSzPts val="1400"/>
              <a:buChar char="○"/>
            </a:pPr>
            <a:r>
              <a:rPr b="1" lang="en" sz="1400" u="sng"/>
              <a:t>Security-based processes</a:t>
            </a:r>
            <a:r>
              <a:rPr lang="en" sz="1400"/>
              <a:t> in the software development lifecycle</a:t>
            </a:r>
            <a:br>
              <a:rPr lang="en" sz="1400"/>
            </a:br>
            <a:endParaRPr sz="1400"/>
          </a:p>
          <a:p>
            <a:pPr indent="-317500" lvl="1" marL="914400" rtl="0" algn="l">
              <a:spcBef>
                <a:spcPts val="0"/>
              </a:spcBef>
              <a:spcAft>
                <a:spcPts val="0"/>
              </a:spcAft>
              <a:buSzPts val="1400"/>
              <a:buChar char="○"/>
            </a:pPr>
            <a:r>
              <a:rPr b="1" lang="en" sz="1400" u="sng"/>
              <a:t>Code scanning automation</a:t>
            </a:r>
            <a:r>
              <a:rPr lang="en" sz="1400"/>
              <a:t> to prevent “low-hanging fruit” from showing up in production</a:t>
            </a:r>
            <a:br>
              <a:rPr lang="en" sz="1400"/>
            </a:br>
            <a:endParaRPr sz="1400"/>
          </a:p>
          <a:p>
            <a:pPr indent="-317500" lvl="1" marL="914400" rtl="0" algn="l">
              <a:spcBef>
                <a:spcPts val="0"/>
              </a:spcBef>
              <a:spcAft>
                <a:spcPts val="0"/>
              </a:spcAft>
              <a:buSzPts val="1400"/>
              <a:buChar char="○"/>
            </a:pPr>
            <a:r>
              <a:rPr b="1" lang="en" sz="1400" u="sng"/>
              <a:t>Manual review</a:t>
            </a:r>
            <a:r>
              <a:rPr lang="en" sz="1400"/>
              <a:t> of code and </a:t>
            </a:r>
            <a:r>
              <a:rPr b="1" lang="en" sz="1400" u="sng"/>
              <a:t>closed-box testing</a:t>
            </a:r>
            <a:r>
              <a:rPr lang="en" sz="1400"/>
              <a:t> (e.g., penetration testing)</a:t>
            </a:r>
            <a:br>
              <a:rPr lang="en" sz="1400"/>
            </a:br>
            <a:endParaRPr sz="1400"/>
          </a:p>
          <a:p>
            <a:pPr indent="-317500" lvl="1" marL="914400" rtl="0" algn="l">
              <a:spcBef>
                <a:spcPts val="0"/>
              </a:spcBef>
              <a:spcAft>
                <a:spcPts val="0"/>
              </a:spcAft>
              <a:buSzPts val="1400"/>
              <a:buChar char="○"/>
            </a:pPr>
            <a:r>
              <a:rPr b="1" lang="en" sz="1400" u="sng"/>
              <a:t>Best practices to design</a:t>
            </a:r>
            <a:r>
              <a:rPr lang="en" sz="1400"/>
              <a:t> secure applications and systems</a:t>
            </a:r>
            <a:endParaRPr sz="1400"/>
          </a:p>
        </p:txBody>
      </p:sp>
      <p:sp>
        <p:nvSpPr>
          <p:cNvPr id="159" name="Google Shape;159;p2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60" name="Google Shape;160;p2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61" name="Google Shape;161;p2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AppSec?</a:t>
            </a:r>
            <a:endParaRPr/>
          </a:p>
        </p:txBody>
      </p:sp>
      <p:sp>
        <p:nvSpPr>
          <p:cNvPr id="167" name="Google Shape;167;p2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68" name="Google Shape;168;p2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69" name="Google Shape;169;p2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170" name="Google Shape;170;p22"/>
          <p:cNvPicPr preferRelativeResize="0"/>
          <p:nvPr/>
        </p:nvPicPr>
        <p:blipFill>
          <a:blip r:embed="rId3">
            <a:alphaModFix/>
          </a:blip>
          <a:stretch>
            <a:fillRect/>
          </a:stretch>
        </p:blipFill>
        <p:spPr>
          <a:xfrm>
            <a:off x="2059375" y="3197850"/>
            <a:ext cx="6665400" cy="1292700"/>
          </a:xfrm>
          <a:prstGeom prst="roundRect">
            <a:avLst>
              <a:gd fmla="val 16667" name="adj"/>
            </a:avLst>
          </a:prstGeom>
          <a:noFill/>
          <a:ln>
            <a:noFill/>
          </a:ln>
        </p:spPr>
      </p:pic>
      <p:pic>
        <p:nvPicPr>
          <p:cNvPr id="171" name="Google Shape;171;p22"/>
          <p:cNvPicPr preferRelativeResize="0"/>
          <p:nvPr/>
        </p:nvPicPr>
        <p:blipFill>
          <a:blip r:embed="rId4">
            <a:alphaModFix/>
          </a:blip>
          <a:stretch>
            <a:fillRect/>
          </a:stretch>
        </p:blipFill>
        <p:spPr>
          <a:xfrm>
            <a:off x="6451800" y="270050"/>
            <a:ext cx="2273100" cy="2764500"/>
          </a:xfrm>
          <a:prstGeom prst="roundRect">
            <a:avLst>
              <a:gd fmla="val 16667" name="adj"/>
            </a:avLst>
          </a:prstGeom>
          <a:noFill/>
          <a:ln>
            <a:noFill/>
          </a:ln>
        </p:spPr>
      </p:pic>
      <p:pic>
        <p:nvPicPr>
          <p:cNvPr id="172" name="Google Shape;172;p22"/>
          <p:cNvPicPr preferRelativeResize="0"/>
          <p:nvPr/>
        </p:nvPicPr>
        <p:blipFill>
          <a:blip r:embed="rId5">
            <a:alphaModFix/>
          </a:blip>
          <a:stretch>
            <a:fillRect/>
          </a:stretch>
        </p:blipFill>
        <p:spPr>
          <a:xfrm>
            <a:off x="311700" y="1404550"/>
            <a:ext cx="5947500" cy="15510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AppSec?</a:t>
            </a:r>
            <a:endParaRPr/>
          </a:p>
        </p:txBody>
      </p:sp>
      <p:sp>
        <p:nvSpPr>
          <p:cNvPr id="178" name="Google Shape;178;p2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79" name="Google Shape;179;p2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80" name="Google Shape;180;p2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181" name="Google Shape;181;p23"/>
          <p:cNvPicPr preferRelativeResize="0"/>
          <p:nvPr/>
        </p:nvPicPr>
        <p:blipFill>
          <a:blip r:embed="rId3">
            <a:alphaModFix/>
          </a:blip>
          <a:stretch>
            <a:fillRect/>
          </a:stretch>
        </p:blipFill>
        <p:spPr>
          <a:xfrm>
            <a:off x="311700" y="1239375"/>
            <a:ext cx="2550000" cy="2460000"/>
          </a:xfrm>
          <a:prstGeom prst="roundRect">
            <a:avLst>
              <a:gd fmla="val 16667" name="adj"/>
            </a:avLst>
          </a:prstGeom>
          <a:noFill/>
          <a:ln>
            <a:noFill/>
          </a:ln>
        </p:spPr>
      </p:pic>
      <p:pic>
        <p:nvPicPr>
          <p:cNvPr id="182" name="Google Shape;182;p23"/>
          <p:cNvPicPr preferRelativeResize="0"/>
          <p:nvPr/>
        </p:nvPicPr>
        <p:blipFill>
          <a:blip r:embed="rId4">
            <a:alphaModFix/>
          </a:blip>
          <a:stretch>
            <a:fillRect/>
          </a:stretch>
        </p:blipFill>
        <p:spPr>
          <a:xfrm>
            <a:off x="2999300" y="2839362"/>
            <a:ext cx="5998500" cy="1608600"/>
          </a:xfrm>
          <a:prstGeom prst="roundRect">
            <a:avLst>
              <a:gd fmla="val 16667" name="adj"/>
            </a:avLst>
          </a:prstGeom>
          <a:noFill/>
          <a:ln>
            <a:noFill/>
          </a:ln>
        </p:spPr>
      </p:pic>
      <p:pic>
        <p:nvPicPr>
          <p:cNvPr id="183" name="Google Shape;183;p23"/>
          <p:cNvPicPr preferRelativeResize="0"/>
          <p:nvPr/>
        </p:nvPicPr>
        <p:blipFill>
          <a:blip r:embed="rId5">
            <a:alphaModFix/>
          </a:blip>
          <a:stretch>
            <a:fillRect/>
          </a:stretch>
        </p:blipFill>
        <p:spPr>
          <a:xfrm>
            <a:off x="3095900" y="1435038"/>
            <a:ext cx="5901900" cy="9870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Context of WebJam</a:t>
            </a:r>
            <a:r>
              <a:rPr lang="en"/>
              <a:t>...</a:t>
            </a:r>
            <a:endParaRPr/>
          </a:p>
        </p:txBody>
      </p:sp>
      <p:sp>
        <p:nvSpPr>
          <p:cNvPr id="189" name="Google Shape;189;p24"/>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Reality: </a:t>
            </a:r>
            <a:r>
              <a:rPr lang="en"/>
              <a:t>Security probably isn’t the focus of your web app…</a:t>
            </a:r>
            <a:r>
              <a:rPr lang="en"/>
              <a:t>..</a:t>
            </a:r>
            <a:r>
              <a:rPr lang="en"/>
              <a:t> </a:t>
            </a:r>
            <a:br>
              <a:rPr lang="en"/>
            </a:br>
            <a:r>
              <a:rPr lang="en" sz="1200"/>
              <a:t>(unless you’re making some kind of security-themed web application)</a:t>
            </a:r>
            <a:endParaRPr sz="1200"/>
          </a:p>
          <a:p>
            <a:pPr indent="0" lvl="0" marL="0" rtl="0" algn="l">
              <a:spcBef>
                <a:spcPts val="1200"/>
              </a:spcBef>
              <a:spcAft>
                <a:spcPts val="0"/>
              </a:spcAft>
              <a:buNone/>
            </a:pPr>
            <a:r>
              <a:t/>
            </a:r>
            <a:endParaRPr sz="1400"/>
          </a:p>
          <a:p>
            <a:pPr indent="0" lvl="0" marL="0" rtl="0" algn="l">
              <a:spcBef>
                <a:spcPts val="1200"/>
              </a:spcBef>
              <a:spcAft>
                <a:spcPts val="0"/>
              </a:spcAft>
              <a:buNone/>
            </a:pPr>
            <a:r>
              <a:rPr lang="en"/>
              <a:t>But </a:t>
            </a:r>
            <a:r>
              <a:rPr b="1" i="1" lang="en"/>
              <a:t>considerations</a:t>
            </a:r>
            <a:r>
              <a:rPr lang="en"/>
              <a:t> for it may put your project over the top!</a:t>
            </a:r>
            <a:endParaRPr/>
          </a:p>
          <a:p>
            <a:pPr indent="-330200" lvl="0" marL="457200" rtl="0" algn="l">
              <a:spcBef>
                <a:spcPts val="1200"/>
              </a:spcBef>
              <a:spcAft>
                <a:spcPts val="0"/>
              </a:spcAft>
              <a:buSzPts val="1600"/>
              <a:buChar char="★"/>
            </a:pPr>
            <a:r>
              <a:rPr lang="en"/>
              <a:t>Panel of professor judges → Bringing up security considerations in your presentation just adds another point of ‘impression’</a:t>
            </a:r>
            <a:endParaRPr/>
          </a:p>
          <a:p>
            <a:pPr indent="-311150" lvl="1" marL="914400" rtl="0" algn="l">
              <a:spcBef>
                <a:spcPts val="0"/>
              </a:spcBef>
              <a:spcAft>
                <a:spcPts val="0"/>
              </a:spcAft>
              <a:buSzPts val="1300"/>
              <a:buChar char="○"/>
            </a:pPr>
            <a:r>
              <a:rPr lang="en" sz="1300"/>
              <a:t>Be cautious about your understanding in case they have follow-up questions</a:t>
            </a:r>
            <a:endParaRPr sz="1300"/>
          </a:p>
          <a:p>
            <a:pPr indent="-317500" lvl="1" marL="914400" rtl="0" algn="l">
              <a:spcBef>
                <a:spcPts val="0"/>
              </a:spcBef>
              <a:spcAft>
                <a:spcPts val="0"/>
              </a:spcAft>
              <a:buSzPts val="1400"/>
              <a:buChar char="○"/>
            </a:pPr>
            <a:r>
              <a:rPr lang="en" sz="1300"/>
              <a:t>Keep it simple – “I made sure SQL injection isn’t a problem by doing …”</a:t>
            </a:r>
            <a:br>
              <a:rPr lang="en" sz="1400"/>
            </a:br>
            <a:endParaRPr sz="1400"/>
          </a:p>
          <a:p>
            <a:pPr indent="-330200" lvl="0" marL="457200" rtl="0" algn="l">
              <a:spcBef>
                <a:spcPts val="0"/>
              </a:spcBef>
              <a:spcAft>
                <a:spcPts val="0"/>
              </a:spcAft>
              <a:buSzPts val="1600"/>
              <a:buChar char="★"/>
            </a:pPr>
            <a:r>
              <a:rPr lang="en"/>
              <a:t>If you decide to make your submission a cool side project, then it’s good experience to keep in mind security</a:t>
            </a:r>
            <a:endParaRPr/>
          </a:p>
          <a:p>
            <a:pPr indent="-311150" lvl="1" marL="914400" rtl="0" algn="l">
              <a:spcBef>
                <a:spcPts val="0"/>
              </a:spcBef>
              <a:spcAft>
                <a:spcPts val="0"/>
              </a:spcAft>
              <a:buSzPts val="1300"/>
              <a:buChar char="○"/>
            </a:pPr>
            <a:r>
              <a:rPr lang="en" sz="1300"/>
              <a:t>Resume builder and interview storytelling</a:t>
            </a:r>
            <a:endParaRPr sz="13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
        <p:nvSpPr>
          <p:cNvPr id="190" name="Google Shape;190;p2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91" name="Google Shape;191;p2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192" name="Google Shape;192;p2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AppSec-Related Tasks</a:t>
            </a:r>
            <a:endParaRPr/>
          </a:p>
        </p:txBody>
      </p:sp>
      <p:sp>
        <p:nvSpPr>
          <p:cNvPr id="198" name="Google Shape;198;p25"/>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Threat modeling – determining what security (and privacy) threats are viable and which ones should be prioritized</a:t>
            </a:r>
            <a:br>
              <a:rPr lang="en"/>
            </a:br>
            <a:endParaRPr/>
          </a:p>
          <a:p>
            <a:pPr indent="-330200" lvl="0" marL="457200" rtl="0" algn="l">
              <a:spcBef>
                <a:spcPts val="0"/>
              </a:spcBef>
              <a:spcAft>
                <a:spcPts val="0"/>
              </a:spcAft>
              <a:buSzPts val="1600"/>
              <a:buChar char="★"/>
            </a:pPr>
            <a:r>
              <a:rPr lang="en"/>
              <a:t>Auditing code for common vulnerabilities (or unique ones)</a:t>
            </a:r>
            <a:endParaRPr/>
          </a:p>
          <a:p>
            <a:pPr indent="-317500" lvl="1" marL="914400" rtl="0" algn="l">
              <a:spcBef>
                <a:spcPts val="0"/>
              </a:spcBef>
              <a:spcAft>
                <a:spcPts val="0"/>
              </a:spcAft>
              <a:buSzPts val="1400"/>
              <a:buChar char="○"/>
            </a:pPr>
            <a:r>
              <a:rPr lang="en" sz="1400"/>
              <a:t>Manual code reviews</a:t>
            </a:r>
            <a:endParaRPr sz="1400"/>
          </a:p>
          <a:p>
            <a:pPr indent="-317500" lvl="1" marL="914400" rtl="0" algn="l">
              <a:spcBef>
                <a:spcPts val="0"/>
              </a:spcBef>
              <a:spcAft>
                <a:spcPts val="0"/>
              </a:spcAft>
              <a:buSzPts val="1400"/>
              <a:buChar char="○"/>
            </a:pPr>
            <a:r>
              <a:rPr lang="en" sz="1400"/>
              <a:t>Code scanning with the help of tools</a:t>
            </a:r>
            <a:endParaRPr sz="1400"/>
          </a:p>
          <a:p>
            <a:pPr indent="-317500" lvl="1" marL="914400" rtl="0" algn="l">
              <a:spcBef>
                <a:spcPts val="0"/>
              </a:spcBef>
              <a:spcAft>
                <a:spcPts val="0"/>
              </a:spcAft>
              <a:buSzPts val="1400"/>
              <a:buChar char="○"/>
            </a:pPr>
            <a:r>
              <a:rPr lang="en" sz="1400"/>
              <a:t>Automated scanning integrated in the CI/CD pipeline</a:t>
            </a:r>
            <a:br>
              <a:rPr lang="en" sz="1400"/>
            </a:br>
            <a:endParaRPr sz="1400"/>
          </a:p>
          <a:p>
            <a:pPr indent="-317500" lvl="0" marL="457200" rtl="0" algn="l">
              <a:spcBef>
                <a:spcPts val="0"/>
              </a:spcBef>
              <a:spcAft>
                <a:spcPts val="0"/>
              </a:spcAft>
              <a:buSzPts val="1400"/>
              <a:buChar char="★"/>
            </a:pPr>
            <a:r>
              <a:rPr lang="en" sz="1400"/>
              <a:t>Developing tooling and systems to support automation, system defenses, and mitigations</a:t>
            </a:r>
            <a:br>
              <a:rPr lang="en" sz="1400"/>
            </a:br>
            <a:endParaRPr sz="1400"/>
          </a:p>
          <a:p>
            <a:pPr indent="-317500" lvl="0" marL="457200" rtl="0" algn="l">
              <a:spcBef>
                <a:spcPts val="0"/>
              </a:spcBef>
              <a:spcAft>
                <a:spcPts val="0"/>
              </a:spcAft>
              <a:buSzPts val="1400"/>
              <a:buChar char="★"/>
            </a:pPr>
            <a:r>
              <a:rPr lang="en" sz="1400"/>
              <a:t>Creating security processes for developers to follow and adhere to (and to support company compliance)</a:t>
            </a:r>
            <a:br>
              <a:rPr lang="en" sz="1400"/>
            </a:br>
            <a:endParaRPr sz="1400"/>
          </a:p>
          <a:p>
            <a:pPr indent="-317500" lvl="0" marL="457200" rtl="0" algn="l">
              <a:spcBef>
                <a:spcPts val="0"/>
              </a:spcBef>
              <a:spcAft>
                <a:spcPts val="0"/>
              </a:spcAft>
              <a:buSzPts val="1400"/>
              <a:buChar char="★"/>
            </a:pPr>
            <a:r>
              <a:rPr lang="en" sz="1400"/>
              <a:t>Supporting dev and product teams with secure design</a:t>
            </a:r>
            <a:br>
              <a:rPr lang="en" sz="1400"/>
            </a:br>
            <a:endParaRPr sz="1400"/>
          </a:p>
          <a:p>
            <a:pPr indent="0" lvl="0" marL="0" rtl="0" algn="l">
              <a:spcBef>
                <a:spcPts val="1200"/>
              </a:spcBef>
              <a:spcAft>
                <a:spcPts val="1200"/>
              </a:spcAft>
              <a:buNone/>
            </a:pPr>
            <a:r>
              <a:t/>
            </a:r>
            <a:endParaRPr sz="1400"/>
          </a:p>
        </p:txBody>
      </p:sp>
      <p:sp>
        <p:nvSpPr>
          <p:cNvPr id="199" name="Google Shape;199;p2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00" name="Google Shape;200;p25"/>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01" name="Google Shape;201;p25"/>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Relevant Features</a:t>
            </a:r>
            <a:endParaRPr/>
          </a:p>
        </p:txBody>
      </p:sp>
      <p:sp>
        <p:nvSpPr>
          <p:cNvPr id="207" name="Google Shape;207;p26"/>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Authentication</a:t>
            </a:r>
            <a:r>
              <a:rPr lang="en" sz="1400"/>
              <a:t>: Are users logging in with </a:t>
            </a:r>
            <a:r>
              <a:rPr b="1" lang="en" sz="1400" u="sng"/>
              <a:t>only</a:t>
            </a:r>
            <a:r>
              <a:rPr lang="en" sz="1400"/>
              <a:t> their own set of valid credentials?</a:t>
            </a:r>
            <a:br>
              <a:rPr lang="en" sz="1400"/>
            </a:br>
            <a:endParaRPr sz="1400"/>
          </a:p>
          <a:p>
            <a:pPr indent="-317500" lvl="0" marL="457200" rtl="0" algn="l">
              <a:spcBef>
                <a:spcPts val="0"/>
              </a:spcBef>
              <a:spcAft>
                <a:spcPts val="0"/>
              </a:spcAft>
              <a:buSzPts val="1400"/>
              <a:buChar char="★"/>
            </a:pPr>
            <a:r>
              <a:rPr b="1" lang="en" sz="1400"/>
              <a:t>Authorization</a:t>
            </a:r>
            <a:r>
              <a:rPr lang="en" sz="1400"/>
              <a:t>: </a:t>
            </a:r>
            <a:r>
              <a:rPr lang="en" sz="1400">
                <a:solidFill>
                  <a:schemeClr val="dk2"/>
                </a:solidFill>
              </a:rPr>
              <a:t>Are the users who are </a:t>
            </a:r>
            <a:r>
              <a:rPr b="1" lang="en" sz="1400" u="sng">
                <a:solidFill>
                  <a:schemeClr val="dk2"/>
                </a:solidFill>
              </a:rPr>
              <a:t>supposed</a:t>
            </a:r>
            <a:r>
              <a:rPr lang="en" sz="1400">
                <a:solidFill>
                  <a:schemeClr val="dk2"/>
                </a:solidFill>
              </a:rPr>
              <a:t> to see certain things the only ones who can </a:t>
            </a:r>
            <a:r>
              <a:rPr b="1" lang="en" sz="1400" u="sng">
                <a:solidFill>
                  <a:schemeClr val="dk2"/>
                </a:solidFill>
              </a:rPr>
              <a:t>actually</a:t>
            </a:r>
            <a:r>
              <a:rPr lang="en" sz="1400">
                <a:solidFill>
                  <a:schemeClr val="dk2"/>
                </a:solidFill>
              </a:rPr>
              <a:t> see them?</a:t>
            </a:r>
            <a:br>
              <a:rPr lang="en" sz="1400"/>
            </a:br>
            <a:endParaRPr sz="1400"/>
          </a:p>
          <a:p>
            <a:pPr indent="-317500" lvl="0" marL="457200" rtl="0" algn="l">
              <a:spcBef>
                <a:spcPts val="0"/>
              </a:spcBef>
              <a:spcAft>
                <a:spcPts val="0"/>
              </a:spcAft>
              <a:buSzPts val="1400"/>
              <a:buChar char="★"/>
            </a:pPr>
            <a:r>
              <a:rPr b="1" lang="en" sz="1400"/>
              <a:t>Encryption</a:t>
            </a:r>
            <a:r>
              <a:rPr lang="en" sz="1400"/>
              <a:t>: Can sensitive data (at-rest and in-transit) be accessed </a:t>
            </a:r>
            <a:r>
              <a:rPr b="1" lang="en" sz="1400" u="sng"/>
              <a:t>only</a:t>
            </a:r>
            <a:r>
              <a:rPr lang="en" sz="1400"/>
              <a:t> by those who have the correct key?</a:t>
            </a:r>
            <a:br>
              <a:rPr lang="en" sz="1400"/>
            </a:br>
            <a:endParaRPr sz="1400"/>
          </a:p>
          <a:p>
            <a:pPr indent="-317500" lvl="0" marL="457200" rtl="0" algn="l">
              <a:spcBef>
                <a:spcPts val="0"/>
              </a:spcBef>
              <a:spcAft>
                <a:spcPts val="0"/>
              </a:spcAft>
              <a:buSzPts val="1400"/>
              <a:buChar char="★"/>
            </a:pPr>
            <a:r>
              <a:rPr b="1" lang="en" sz="1400"/>
              <a:t>Logging</a:t>
            </a:r>
            <a:r>
              <a:rPr lang="en" sz="1400"/>
              <a:t>: If there were any suspicious activities or malicious threats, do you have any </a:t>
            </a:r>
            <a:r>
              <a:rPr b="1" lang="en" sz="1400" u="sng"/>
              <a:t>data</a:t>
            </a:r>
            <a:r>
              <a:rPr lang="en" sz="1400"/>
              <a:t> to support further investigations?</a:t>
            </a:r>
            <a:br>
              <a:rPr lang="en" sz="1400"/>
            </a:br>
            <a:endParaRPr sz="1400"/>
          </a:p>
          <a:p>
            <a:pPr indent="-317500" lvl="0" marL="457200" rtl="0" algn="l">
              <a:spcBef>
                <a:spcPts val="0"/>
              </a:spcBef>
              <a:spcAft>
                <a:spcPts val="0"/>
              </a:spcAft>
              <a:buSzPts val="1400"/>
              <a:buChar char="★"/>
            </a:pPr>
            <a:r>
              <a:rPr b="1" lang="en" sz="1400"/>
              <a:t>Testing</a:t>
            </a:r>
            <a:r>
              <a:rPr lang="en" sz="1400"/>
              <a:t>: Is your code </a:t>
            </a:r>
            <a:r>
              <a:rPr b="1" lang="en" sz="1400"/>
              <a:t>actually</a:t>
            </a:r>
            <a:r>
              <a:rPr lang="en" sz="1400"/>
              <a:t> secure against what you </a:t>
            </a:r>
            <a:r>
              <a:rPr b="1" lang="en" sz="1400" u="sng"/>
              <a:t>think</a:t>
            </a:r>
            <a:r>
              <a:rPr lang="en" sz="1400"/>
              <a:t> it’s secure against?</a:t>
            </a:r>
            <a:endParaRPr sz="1400"/>
          </a:p>
        </p:txBody>
      </p:sp>
      <p:sp>
        <p:nvSpPr>
          <p:cNvPr id="208" name="Google Shape;208;p2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09" name="Google Shape;209;p26"/>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10" name="Google Shape;210;p26"/>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Best Practices</a:t>
            </a:r>
            <a:endParaRPr/>
          </a:p>
        </p:txBody>
      </p:sp>
      <p:sp>
        <p:nvSpPr>
          <p:cNvPr id="216" name="Google Shape;216;p27"/>
          <p:cNvSpPr txBox="1"/>
          <p:nvPr>
            <p:ph idx="1" type="body"/>
          </p:nvPr>
        </p:nvSpPr>
        <p:spPr>
          <a:xfrm>
            <a:off x="311700" y="1132275"/>
            <a:ext cx="8520600" cy="3561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sz="1400"/>
              <a:t>Authentication</a:t>
            </a:r>
            <a:r>
              <a:rPr lang="en" sz="1400"/>
              <a:t>: Implementing multi-factor auth, single sign-on; secure API auth standards (e.g., OAuth 2.0, JWT)</a:t>
            </a:r>
            <a:br>
              <a:rPr lang="en" sz="1400"/>
            </a:br>
            <a:endParaRPr sz="1400"/>
          </a:p>
          <a:p>
            <a:pPr indent="-317500" lvl="0" marL="457200" rtl="0" algn="l">
              <a:spcBef>
                <a:spcPts val="0"/>
              </a:spcBef>
              <a:spcAft>
                <a:spcPts val="0"/>
              </a:spcAft>
              <a:buSzPts val="1400"/>
              <a:buChar char="★"/>
            </a:pPr>
            <a:r>
              <a:rPr b="1" lang="en" sz="1400"/>
              <a:t>Authorization</a:t>
            </a:r>
            <a:r>
              <a:rPr lang="en" sz="1400"/>
              <a:t>: Principle of least privilege, deny by default</a:t>
            </a:r>
            <a:br>
              <a:rPr lang="en" sz="1400"/>
            </a:br>
            <a:endParaRPr sz="1400"/>
          </a:p>
          <a:p>
            <a:pPr indent="-317500" lvl="0" marL="457200" rtl="0" algn="l">
              <a:spcBef>
                <a:spcPts val="0"/>
              </a:spcBef>
              <a:spcAft>
                <a:spcPts val="0"/>
              </a:spcAft>
              <a:buSzPts val="1400"/>
              <a:buChar char="★"/>
            </a:pPr>
            <a:r>
              <a:rPr b="1" lang="en" sz="1400"/>
              <a:t>Encryption</a:t>
            </a:r>
            <a:r>
              <a:rPr lang="en" sz="1400"/>
              <a:t>: Don’t write your own encryption! Use approved algorithms (e.g., AES-256, RSA 2048, SHA-256)</a:t>
            </a:r>
            <a:br>
              <a:rPr lang="en" sz="1400"/>
            </a:br>
            <a:endParaRPr sz="1400"/>
          </a:p>
          <a:p>
            <a:pPr indent="-317500" lvl="0" marL="457200" rtl="0" algn="l">
              <a:spcBef>
                <a:spcPts val="0"/>
              </a:spcBef>
              <a:spcAft>
                <a:spcPts val="0"/>
              </a:spcAft>
              <a:buSzPts val="1400"/>
              <a:buChar char="★"/>
            </a:pPr>
            <a:r>
              <a:rPr b="1" lang="en" sz="1400"/>
              <a:t>Logging</a:t>
            </a:r>
            <a:r>
              <a:rPr lang="en" sz="1400"/>
              <a:t>: Descriptive error messages, tracking third-party dependencies (e.g., Software Bill of Materials (SBOMs))</a:t>
            </a:r>
            <a:br>
              <a:rPr lang="en" sz="1400"/>
            </a:br>
            <a:endParaRPr sz="1400"/>
          </a:p>
          <a:p>
            <a:pPr indent="-317500" lvl="0" marL="457200" rtl="0" algn="l">
              <a:spcBef>
                <a:spcPts val="0"/>
              </a:spcBef>
              <a:spcAft>
                <a:spcPts val="0"/>
              </a:spcAft>
              <a:buSzPts val="1400"/>
              <a:buChar char="★"/>
            </a:pPr>
            <a:r>
              <a:rPr b="1" lang="en" sz="1400"/>
              <a:t>Testing</a:t>
            </a:r>
            <a:r>
              <a:rPr lang="en" sz="1400"/>
              <a:t>: Automate your continuous testing (e.g., CI/CD), utilize static &amp; dynamic analysis</a:t>
            </a:r>
            <a:endParaRPr sz="1400"/>
          </a:p>
        </p:txBody>
      </p:sp>
      <p:sp>
        <p:nvSpPr>
          <p:cNvPr id="217" name="Google Shape;217;p2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18" name="Google Shape;218;p2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19" name="Google Shape;219;p2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SDLC → Secure SDLC</a:t>
            </a:r>
            <a:endParaRPr/>
          </a:p>
        </p:txBody>
      </p:sp>
      <p:sp>
        <p:nvSpPr>
          <p:cNvPr id="225" name="Google Shape;225;p2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26" name="Google Shape;226;p2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27" name="Google Shape;227;p2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228" name="Google Shape;228;p28"/>
          <p:cNvPicPr preferRelativeResize="0"/>
          <p:nvPr/>
        </p:nvPicPr>
        <p:blipFill>
          <a:blip r:embed="rId3">
            <a:alphaModFix/>
          </a:blip>
          <a:stretch>
            <a:fillRect/>
          </a:stretch>
        </p:blipFill>
        <p:spPr>
          <a:xfrm>
            <a:off x="899750" y="1195050"/>
            <a:ext cx="7344600" cy="36909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OWASP Top 10</a:t>
            </a:r>
            <a:endParaRPr/>
          </a:p>
        </p:txBody>
      </p:sp>
      <p:sp>
        <p:nvSpPr>
          <p:cNvPr id="234" name="Google Shape;234;p29"/>
          <p:cNvSpPr txBox="1"/>
          <p:nvPr>
            <p:ph idx="1" type="body"/>
          </p:nvPr>
        </p:nvSpPr>
        <p:spPr>
          <a:xfrm>
            <a:off x="311700" y="1231188"/>
            <a:ext cx="8520600" cy="503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Top 10 list of “most critical security risks to web application”; last </a:t>
            </a:r>
            <a:r>
              <a:rPr lang="en"/>
              <a:t>published</a:t>
            </a:r>
            <a:r>
              <a:rPr lang="en"/>
              <a:t> in 2021</a:t>
            </a:r>
            <a:endParaRPr/>
          </a:p>
        </p:txBody>
      </p:sp>
      <p:sp>
        <p:nvSpPr>
          <p:cNvPr id="235" name="Google Shape;235;p2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36" name="Google Shape;236;p2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37" name="Google Shape;237;p2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238" name="Google Shape;238;p29"/>
          <p:cNvSpPr txBox="1"/>
          <p:nvPr/>
        </p:nvSpPr>
        <p:spPr>
          <a:xfrm>
            <a:off x="387750" y="1823975"/>
            <a:ext cx="3610200" cy="25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b="1" lang="en" sz="1600">
                <a:solidFill>
                  <a:srgbClr val="777777"/>
                </a:solidFill>
                <a:latin typeface="Open Sans"/>
                <a:ea typeface="Open Sans"/>
                <a:cs typeface="Open Sans"/>
                <a:sym typeface="Open Sans"/>
              </a:rPr>
              <a:t>#1</a:t>
            </a:r>
            <a:r>
              <a:rPr lang="en" sz="1600">
                <a:solidFill>
                  <a:srgbClr val="777777"/>
                </a:solidFill>
                <a:latin typeface="Open Sans"/>
                <a:ea typeface="Open Sans"/>
                <a:cs typeface="Open Sans"/>
                <a:sym typeface="Open Sans"/>
              </a:rPr>
              <a:t>: Broken Access Control</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#2</a:t>
            </a:r>
            <a:r>
              <a:rPr lang="en" sz="1600">
                <a:solidFill>
                  <a:srgbClr val="777777"/>
                </a:solidFill>
                <a:latin typeface="Open Sans"/>
                <a:ea typeface="Open Sans"/>
                <a:cs typeface="Open Sans"/>
                <a:sym typeface="Open Sans"/>
              </a:rPr>
              <a:t>: Cryptographic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#3</a:t>
            </a:r>
            <a:r>
              <a:rPr lang="en" sz="1600">
                <a:solidFill>
                  <a:srgbClr val="777777"/>
                </a:solidFill>
                <a:latin typeface="Open Sans"/>
                <a:ea typeface="Open Sans"/>
                <a:cs typeface="Open Sans"/>
                <a:sym typeface="Open Sans"/>
              </a:rPr>
              <a:t>: Injection</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#4</a:t>
            </a:r>
            <a:r>
              <a:rPr lang="en" sz="1600">
                <a:solidFill>
                  <a:srgbClr val="777777"/>
                </a:solidFill>
                <a:latin typeface="Open Sans"/>
                <a:ea typeface="Open Sans"/>
                <a:cs typeface="Open Sans"/>
                <a:sym typeface="Open Sans"/>
              </a:rPr>
              <a:t>: Insecure Design</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#5</a:t>
            </a:r>
            <a:r>
              <a:rPr lang="en" sz="1600">
                <a:solidFill>
                  <a:srgbClr val="777777"/>
                </a:solidFill>
                <a:latin typeface="Open Sans"/>
                <a:ea typeface="Open Sans"/>
                <a:cs typeface="Open Sans"/>
                <a:sym typeface="Open Sans"/>
              </a:rPr>
              <a:t>: Security Misconfiguration</a:t>
            </a:r>
            <a:endParaRPr sz="1600">
              <a:solidFill>
                <a:srgbClr val="777777"/>
              </a:solidFill>
              <a:latin typeface="Open Sans"/>
              <a:ea typeface="Open Sans"/>
              <a:cs typeface="Open Sans"/>
              <a:sym typeface="Open Sans"/>
            </a:endParaRPr>
          </a:p>
        </p:txBody>
      </p:sp>
      <p:sp>
        <p:nvSpPr>
          <p:cNvPr id="239" name="Google Shape;239;p29"/>
          <p:cNvSpPr txBox="1"/>
          <p:nvPr/>
        </p:nvSpPr>
        <p:spPr>
          <a:xfrm>
            <a:off x="4106875" y="1823975"/>
            <a:ext cx="4590000" cy="25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777777"/>
              </a:solidFill>
              <a:latin typeface="Open Sans"/>
              <a:ea typeface="Open Sans"/>
              <a:cs typeface="Open Sans"/>
              <a:sym typeface="Open Sans"/>
            </a:endParaRPr>
          </a:p>
          <a:p>
            <a:pPr indent="0" lvl="0" marL="0" rtl="0" algn="l">
              <a:spcBef>
                <a:spcPts val="0"/>
              </a:spcBef>
              <a:spcAft>
                <a:spcPts val="0"/>
              </a:spcAft>
              <a:buNone/>
            </a:pPr>
            <a:r>
              <a:rPr b="1" lang="en" sz="1600">
                <a:solidFill>
                  <a:srgbClr val="777777"/>
                </a:solidFill>
                <a:latin typeface="Open Sans"/>
                <a:ea typeface="Open Sans"/>
                <a:cs typeface="Open Sans"/>
                <a:sym typeface="Open Sans"/>
              </a:rPr>
              <a:t>#6</a:t>
            </a:r>
            <a:r>
              <a:rPr lang="en" sz="1600">
                <a:solidFill>
                  <a:srgbClr val="777777"/>
                </a:solidFill>
                <a:latin typeface="Open Sans"/>
                <a:ea typeface="Open Sans"/>
                <a:cs typeface="Open Sans"/>
                <a:sym typeface="Open Sans"/>
              </a:rPr>
              <a:t>: Vulnerable and Outdated Components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#7</a:t>
            </a:r>
            <a:r>
              <a:rPr lang="en" sz="1600">
                <a:solidFill>
                  <a:srgbClr val="777777"/>
                </a:solidFill>
                <a:latin typeface="Open Sans"/>
                <a:ea typeface="Open Sans"/>
                <a:cs typeface="Open Sans"/>
                <a:sym typeface="Open Sans"/>
              </a:rPr>
              <a:t>: Identification and Authentication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#8</a:t>
            </a:r>
            <a:r>
              <a:rPr lang="en" sz="1600">
                <a:solidFill>
                  <a:srgbClr val="777777"/>
                </a:solidFill>
                <a:latin typeface="Open Sans"/>
                <a:ea typeface="Open Sans"/>
                <a:cs typeface="Open Sans"/>
                <a:sym typeface="Open Sans"/>
              </a:rPr>
              <a:t>: Software and Data Integrity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#9</a:t>
            </a:r>
            <a:r>
              <a:rPr lang="en" sz="1600">
                <a:solidFill>
                  <a:srgbClr val="777777"/>
                </a:solidFill>
                <a:latin typeface="Open Sans"/>
                <a:ea typeface="Open Sans"/>
                <a:cs typeface="Open Sans"/>
                <a:sym typeface="Open Sans"/>
              </a:rPr>
              <a:t>: Security Logging and Monitoring Failures</a:t>
            </a:r>
            <a:br>
              <a:rPr lang="en" sz="1600">
                <a:solidFill>
                  <a:srgbClr val="777777"/>
                </a:solidFill>
                <a:latin typeface="Open Sans"/>
                <a:ea typeface="Open Sans"/>
                <a:cs typeface="Open Sans"/>
                <a:sym typeface="Open Sans"/>
              </a:rPr>
            </a:br>
            <a:br>
              <a:rPr lang="en" sz="1600">
                <a:solidFill>
                  <a:srgbClr val="777777"/>
                </a:solidFill>
                <a:latin typeface="Open Sans"/>
                <a:ea typeface="Open Sans"/>
                <a:cs typeface="Open Sans"/>
                <a:sym typeface="Open Sans"/>
              </a:rPr>
            </a:br>
            <a:r>
              <a:rPr b="1" lang="en" sz="1600">
                <a:solidFill>
                  <a:srgbClr val="777777"/>
                </a:solidFill>
                <a:latin typeface="Open Sans"/>
                <a:ea typeface="Open Sans"/>
                <a:cs typeface="Open Sans"/>
                <a:sym typeface="Open Sans"/>
              </a:rPr>
              <a:t>#10</a:t>
            </a:r>
            <a:r>
              <a:rPr lang="en" sz="1600">
                <a:solidFill>
                  <a:srgbClr val="777777"/>
                </a:solidFill>
                <a:latin typeface="Open Sans"/>
                <a:ea typeface="Open Sans"/>
                <a:cs typeface="Open Sans"/>
                <a:sym typeface="Open Sans"/>
              </a:rPr>
              <a:t>: Server-Side Request Forgery (SSRF)</a:t>
            </a:r>
            <a:endParaRPr sz="1600">
              <a:solidFill>
                <a:srgbClr val="777777"/>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Exposed Secrets / Credentials</a:t>
            </a:r>
            <a:endParaRPr/>
          </a:p>
        </p:txBody>
      </p:sp>
      <p:sp>
        <p:nvSpPr>
          <p:cNvPr id="245" name="Google Shape;245;p30"/>
          <p:cNvSpPr txBox="1"/>
          <p:nvPr>
            <p:ph idx="1" type="body"/>
          </p:nvPr>
        </p:nvSpPr>
        <p:spPr>
          <a:xfrm>
            <a:off x="311700" y="11223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Especially if your code repo is public, you have to be careful about exposing your:</a:t>
            </a:r>
            <a:endParaRPr/>
          </a:p>
          <a:p>
            <a:pPr indent="-330200" lvl="0" marL="457200" rtl="0" algn="l">
              <a:spcBef>
                <a:spcPts val="1200"/>
              </a:spcBef>
              <a:spcAft>
                <a:spcPts val="0"/>
              </a:spcAft>
              <a:buSzPts val="1600"/>
              <a:buChar char="-"/>
            </a:pPr>
            <a:r>
              <a:rPr lang="en"/>
              <a:t>API keys</a:t>
            </a:r>
            <a:endParaRPr/>
          </a:p>
          <a:p>
            <a:pPr indent="-330200" lvl="0" marL="457200" rtl="0" algn="l">
              <a:spcBef>
                <a:spcPts val="0"/>
              </a:spcBef>
              <a:spcAft>
                <a:spcPts val="0"/>
              </a:spcAft>
              <a:buSzPts val="1600"/>
              <a:buChar char="-"/>
            </a:pPr>
            <a:r>
              <a:rPr lang="en"/>
              <a:t>Passwords</a:t>
            </a:r>
            <a:endParaRPr/>
          </a:p>
          <a:p>
            <a:pPr indent="-330200" lvl="0" marL="457200" rtl="0" algn="l">
              <a:spcBef>
                <a:spcPts val="0"/>
              </a:spcBef>
              <a:spcAft>
                <a:spcPts val="0"/>
              </a:spcAft>
              <a:buSzPts val="1600"/>
              <a:buChar char="-"/>
            </a:pPr>
            <a:r>
              <a:rPr lang="en"/>
              <a:t>SSH keys</a:t>
            </a:r>
            <a:endParaRPr/>
          </a:p>
          <a:p>
            <a:pPr indent="-330200" lvl="0" marL="457200" rtl="0" algn="l">
              <a:spcBef>
                <a:spcPts val="0"/>
              </a:spcBef>
              <a:spcAft>
                <a:spcPts val="0"/>
              </a:spcAft>
              <a:buSzPts val="1600"/>
              <a:buChar char="-"/>
            </a:pPr>
            <a:r>
              <a:rPr lang="en"/>
              <a:t>Access tokens</a:t>
            </a:r>
            <a:endParaRPr/>
          </a:p>
          <a:p>
            <a:pPr indent="-330200" lvl="0" marL="457200" rtl="0" algn="l">
              <a:spcBef>
                <a:spcPts val="0"/>
              </a:spcBef>
              <a:spcAft>
                <a:spcPts val="0"/>
              </a:spcAft>
              <a:buSzPts val="1600"/>
              <a:buChar char="-"/>
            </a:pPr>
            <a:r>
              <a:rPr lang="en"/>
              <a:t>Database connection strings</a:t>
            </a:r>
            <a:endParaRPr/>
          </a:p>
          <a:p>
            <a:pPr indent="-330200" lvl="0" marL="457200" rtl="0" algn="l">
              <a:spcBef>
                <a:spcPts val="0"/>
              </a:spcBef>
              <a:spcAft>
                <a:spcPts val="0"/>
              </a:spcAft>
              <a:buSzPts val="1600"/>
              <a:buChar char="-"/>
            </a:pPr>
            <a:r>
              <a:rPr lang="en"/>
              <a:t>SaaS account IDs</a:t>
            </a:r>
            <a:endParaRPr/>
          </a:p>
          <a:p>
            <a:pPr indent="0" lvl="0" marL="0" rtl="0" algn="l">
              <a:spcBef>
                <a:spcPts val="1200"/>
              </a:spcBef>
              <a:spcAft>
                <a:spcPts val="0"/>
              </a:spcAft>
              <a:buNone/>
            </a:pPr>
            <a:r>
              <a:rPr lang="en"/>
              <a:t>Even then, secrets can be stolen by various means (i.e., other upcoming methods..)</a:t>
            </a:r>
            <a:endParaRPr/>
          </a:p>
          <a:p>
            <a:pPr indent="0" lvl="0" marL="0" rtl="0" algn="l">
              <a:spcBef>
                <a:spcPts val="1200"/>
              </a:spcBef>
              <a:spcAft>
                <a:spcPts val="1200"/>
              </a:spcAft>
              <a:buNone/>
            </a:pPr>
            <a:r>
              <a:rPr lang="en"/>
              <a:t>Also be </a:t>
            </a:r>
            <a:r>
              <a:rPr lang="en"/>
              <a:t>cautious about leaving secrets in comments!</a:t>
            </a:r>
            <a:endParaRPr/>
          </a:p>
        </p:txBody>
      </p:sp>
      <p:sp>
        <p:nvSpPr>
          <p:cNvPr id="246" name="Google Shape;246;p3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47" name="Google Shape;247;p3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48" name="Google Shape;248;p3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descr="Finding and fixing exposed hardcoded secrets in your GitHub project with  Snyk | Snyk" id="249" name="Google Shape;249;p30"/>
          <p:cNvPicPr preferRelativeResize="0"/>
          <p:nvPr/>
        </p:nvPicPr>
        <p:blipFill>
          <a:blip r:embed="rId3">
            <a:alphaModFix/>
          </a:blip>
          <a:stretch>
            <a:fillRect/>
          </a:stretch>
        </p:blipFill>
        <p:spPr>
          <a:xfrm>
            <a:off x="4271350" y="1796900"/>
            <a:ext cx="4730474" cy="1417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Injection</a:t>
            </a:r>
            <a:endParaRPr/>
          </a:p>
        </p:txBody>
      </p:sp>
      <p:sp>
        <p:nvSpPr>
          <p:cNvPr id="255" name="Google Shape;255;p31"/>
          <p:cNvSpPr txBox="1"/>
          <p:nvPr>
            <p:ph idx="1" type="body"/>
          </p:nvPr>
        </p:nvSpPr>
        <p:spPr>
          <a:xfrm>
            <a:off x="311700" y="1132275"/>
            <a:ext cx="8520600" cy="250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Overall </a:t>
            </a:r>
            <a:r>
              <a:rPr b="1" lang="en"/>
              <a:t>Goal</a:t>
            </a:r>
            <a:r>
              <a:rPr lang="en"/>
              <a:t>: Leveraging unsanitized SQL queries to your advantage</a:t>
            </a:r>
            <a:endParaRPr/>
          </a:p>
          <a:p>
            <a:pPr indent="0" lvl="0" marL="0" rtl="0" algn="ctr">
              <a:spcBef>
                <a:spcPts val="1200"/>
              </a:spcBef>
              <a:spcAft>
                <a:spcPts val="0"/>
              </a:spcAft>
              <a:buNone/>
            </a:pPr>
            <a:r>
              <a:rPr b="1" lang="en"/>
              <a:t>Target</a:t>
            </a:r>
            <a:r>
              <a:rPr lang="en"/>
              <a:t>: Login to the user ‘</a:t>
            </a:r>
            <a:r>
              <a:rPr b="1" lang="en">
                <a:latin typeface="Space Mono"/>
                <a:ea typeface="Space Mono"/>
                <a:cs typeface="Space Mono"/>
                <a:sym typeface="Space Mono"/>
              </a:rPr>
              <a:t>stengo</a:t>
            </a:r>
            <a:r>
              <a:rPr lang="en"/>
              <a:t>’ without knowing their password</a:t>
            </a:r>
            <a:endParaRPr/>
          </a:p>
          <a:p>
            <a:pPr indent="0" lvl="0" marL="0" rtl="0" algn="ctr">
              <a:spcBef>
                <a:spcPts val="1200"/>
              </a:spcBef>
              <a:spcAft>
                <a:spcPts val="0"/>
              </a:spcAft>
              <a:buNone/>
            </a:pPr>
            <a:r>
              <a:rPr b="1" lang="en"/>
              <a:t>Query</a:t>
            </a:r>
            <a:r>
              <a:rPr lang="en"/>
              <a:t>: </a:t>
            </a:r>
            <a:br>
              <a:rPr lang="en"/>
            </a:br>
            <a:r>
              <a:rPr lang="en" sz="1300"/>
              <a:t>“ </a:t>
            </a:r>
            <a:r>
              <a:rPr lang="en" sz="1300">
                <a:latin typeface="Space Mono"/>
                <a:ea typeface="Space Mono"/>
                <a:cs typeface="Space Mono"/>
                <a:sym typeface="Space Mono"/>
              </a:rPr>
              <a:t>SELECT * FROM users WHERE username = ‘{username}’ AND password = ‘{password}’</a:t>
            </a:r>
            <a:r>
              <a:rPr lang="en" sz="1300"/>
              <a:t> “</a:t>
            </a:r>
            <a:br>
              <a:rPr lang="en" sz="1300"/>
            </a:br>
            <a:endParaRPr sz="1300"/>
          </a:p>
          <a:p>
            <a:pPr indent="0" lvl="0" marL="0" rtl="0" algn="ctr">
              <a:spcBef>
                <a:spcPts val="1200"/>
              </a:spcBef>
              <a:spcAft>
                <a:spcPts val="0"/>
              </a:spcAft>
              <a:buNone/>
            </a:pPr>
            <a:r>
              <a:t/>
            </a:r>
            <a:endParaRPr sz="1300"/>
          </a:p>
          <a:p>
            <a:pPr indent="0" lvl="0" marL="0" rtl="0" algn="ctr">
              <a:spcBef>
                <a:spcPts val="1200"/>
              </a:spcBef>
              <a:spcAft>
                <a:spcPts val="0"/>
              </a:spcAft>
              <a:buNone/>
            </a:pPr>
            <a:r>
              <a:rPr b="1" lang="en"/>
              <a:t>Thoughts on what you could do here?</a:t>
            </a:r>
            <a:endParaRPr b="1"/>
          </a:p>
          <a:p>
            <a:pPr indent="0" lvl="0" marL="0" rtl="0" algn="ctr">
              <a:spcBef>
                <a:spcPts val="1200"/>
              </a:spcBef>
              <a:spcAft>
                <a:spcPts val="0"/>
              </a:spcAft>
              <a:buNone/>
            </a:pPr>
            <a:r>
              <a:t/>
            </a:r>
            <a:endParaRPr/>
          </a:p>
          <a:p>
            <a:pPr indent="0" lvl="0" marL="0" rtl="0" algn="l">
              <a:spcBef>
                <a:spcPts val="1200"/>
              </a:spcBef>
              <a:spcAft>
                <a:spcPts val="1200"/>
              </a:spcAft>
              <a:buNone/>
            </a:pPr>
            <a:r>
              <a:t/>
            </a:r>
            <a:endParaRPr/>
          </a:p>
        </p:txBody>
      </p:sp>
      <p:sp>
        <p:nvSpPr>
          <p:cNvPr id="256" name="Google Shape;256;p3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57" name="Google Shape;257;p3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58" name="Google Shape;258;p3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259" name="Google Shape;259;p31"/>
          <p:cNvSpPr txBox="1"/>
          <p:nvPr/>
        </p:nvSpPr>
        <p:spPr>
          <a:xfrm>
            <a:off x="364100" y="3758975"/>
            <a:ext cx="8378700" cy="78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600">
                <a:solidFill>
                  <a:schemeClr val="dk2"/>
                </a:solidFill>
                <a:latin typeface="Open Sans"/>
                <a:ea typeface="Open Sans"/>
                <a:cs typeface="Open Sans"/>
                <a:sym typeface="Open Sans"/>
              </a:rPr>
              <a:t>Hints: </a:t>
            </a:r>
            <a:br>
              <a:rPr lang="en" sz="1600">
                <a:solidFill>
                  <a:schemeClr val="dk2"/>
                </a:solidFill>
                <a:latin typeface="Open Sans"/>
                <a:ea typeface="Open Sans"/>
                <a:cs typeface="Open Sans"/>
                <a:sym typeface="Open Sans"/>
              </a:rPr>
            </a:br>
            <a:r>
              <a:rPr lang="en" sz="1600">
                <a:solidFill>
                  <a:schemeClr val="dk2"/>
                </a:solidFill>
                <a:latin typeface="Open Sans"/>
                <a:ea typeface="Open Sans"/>
                <a:cs typeface="Open Sans"/>
                <a:sym typeface="Open Sans"/>
              </a:rPr>
              <a:t>Add something in the username input that comments the rest of the check out…</a:t>
            </a:r>
            <a:br>
              <a:rPr lang="en" sz="1600">
                <a:solidFill>
                  <a:schemeClr val="dk2"/>
                </a:solidFill>
                <a:latin typeface="Open Sans"/>
                <a:ea typeface="Open Sans"/>
                <a:cs typeface="Open Sans"/>
                <a:sym typeface="Open Sans"/>
              </a:rPr>
            </a:br>
            <a:r>
              <a:rPr lang="en" sz="1600">
                <a:solidFill>
                  <a:schemeClr val="dk2"/>
                </a:solidFill>
                <a:latin typeface="Open Sans"/>
                <a:ea typeface="Open Sans"/>
                <a:cs typeface="Open Sans"/>
                <a:sym typeface="Open Sans"/>
              </a:rPr>
              <a:t>OR add another component to the query that causes it to always be true…</a:t>
            </a:r>
            <a:endParaRPr sz="1600">
              <a:solidFill>
                <a:srgbClr val="777777"/>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SQL Injection</a:t>
            </a:r>
            <a:endParaRPr/>
          </a:p>
        </p:txBody>
      </p:sp>
      <p:sp>
        <p:nvSpPr>
          <p:cNvPr id="265" name="Google Shape;265;p32"/>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rPr>
              <a:t>Query</a:t>
            </a:r>
            <a:r>
              <a:rPr lang="en">
                <a:solidFill>
                  <a:schemeClr val="dk2"/>
                </a:solidFill>
              </a:rPr>
              <a:t>: </a:t>
            </a:r>
            <a:br>
              <a:rPr lang="en">
                <a:solidFill>
                  <a:schemeClr val="dk2"/>
                </a:solidFill>
              </a:rPr>
            </a:br>
            <a:r>
              <a:rPr lang="en" sz="1300">
                <a:solidFill>
                  <a:schemeClr val="dk2"/>
                </a:solidFill>
              </a:rPr>
              <a:t>“ </a:t>
            </a:r>
            <a:r>
              <a:rPr lang="en" sz="1300">
                <a:solidFill>
                  <a:schemeClr val="dk2"/>
                </a:solidFill>
                <a:latin typeface="Space Mono"/>
                <a:ea typeface="Space Mono"/>
                <a:cs typeface="Space Mono"/>
                <a:sym typeface="Space Mono"/>
              </a:rPr>
              <a:t>SELECT * FROM users WHERE username = ‘{username}’ AND password = ‘{password}’</a:t>
            </a:r>
            <a:r>
              <a:rPr lang="en" sz="1300">
                <a:solidFill>
                  <a:schemeClr val="dk2"/>
                </a:solidFill>
              </a:rPr>
              <a:t> “</a:t>
            </a:r>
            <a:endParaRPr sz="1300">
              <a:solidFill>
                <a:schemeClr val="dk2"/>
              </a:solidFill>
            </a:endParaRPr>
          </a:p>
          <a:p>
            <a:pPr indent="0" lvl="0" marL="0" rtl="0" algn="ctr">
              <a:spcBef>
                <a:spcPts val="1200"/>
              </a:spcBef>
              <a:spcAft>
                <a:spcPts val="0"/>
              </a:spcAft>
              <a:buNone/>
            </a:pPr>
            <a:r>
              <a:t/>
            </a:r>
            <a:endParaRPr sz="1300">
              <a:solidFill>
                <a:schemeClr val="dk2"/>
              </a:solidFill>
            </a:endParaRPr>
          </a:p>
          <a:p>
            <a:pPr indent="0" lvl="0" marL="0" rtl="0" algn="ctr">
              <a:spcBef>
                <a:spcPts val="1200"/>
              </a:spcBef>
              <a:spcAft>
                <a:spcPts val="0"/>
              </a:spcAft>
              <a:buNone/>
            </a:pPr>
            <a:r>
              <a:rPr b="1" lang="en">
                <a:solidFill>
                  <a:schemeClr val="dk2"/>
                </a:solidFill>
              </a:rPr>
              <a:t>Modified Query </a:t>
            </a:r>
            <a:r>
              <a:rPr lang="en">
                <a:solidFill>
                  <a:schemeClr val="dk2"/>
                </a:solidFill>
              </a:rPr>
              <a:t>(with input):</a:t>
            </a:r>
            <a:endParaRPr>
              <a:solidFill>
                <a:schemeClr val="dk2"/>
              </a:solidFill>
            </a:endParaRPr>
          </a:p>
          <a:p>
            <a:pPr indent="0" lvl="0" marL="0" rtl="0" algn="ctr">
              <a:spcBef>
                <a:spcPts val="1200"/>
              </a:spcBef>
              <a:spcAft>
                <a:spcPts val="0"/>
              </a:spcAft>
              <a:buNone/>
            </a:pPr>
            <a:r>
              <a:rPr lang="en" sz="1300">
                <a:solidFill>
                  <a:schemeClr val="dk2"/>
                </a:solidFill>
                <a:latin typeface="Space Mono"/>
                <a:ea typeface="Space Mono"/>
                <a:cs typeface="Space Mono"/>
                <a:sym typeface="Space Mono"/>
              </a:rPr>
              <a:t>“ SELECT * FROM users WHERE </a:t>
            </a:r>
            <a:r>
              <a:rPr b="1" lang="en" sz="1300">
                <a:solidFill>
                  <a:schemeClr val="dk2"/>
                </a:solidFill>
                <a:highlight>
                  <a:schemeClr val="accent4"/>
                </a:highlight>
                <a:latin typeface="Space Mono"/>
                <a:ea typeface="Space Mono"/>
                <a:cs typeface="Space Mono"/>
                <a:sym typeface="Space Mono"/>
              </a:rPr>
              <a:t>username = ‘stengo’--’</a:t>
            </a:r>
            <a:r>
              <a:rPr lang="en" sz="1300">
                <a:solidFill>
                  <a:schemeClr val="dk2"/>
                </a:solidFill>
                <a:latin typeface="Space Mono"/>
                <a:ea typeface="Space Mono"/>
                <a:cs typeface="Space Mono"/>
                <a:sym typeface="Space Mono"/>
              </a:rPr>
              <a:t> AND password = ‘{password}’ “</a:t>
            </a:r>
            <a:endParaRPr sz="1300">
              <a:solidFill>
                <a:schemeClr val="dk2"/>
              </a:solidFill>
              <a:latin typeface="Space Mono"/>
              <a:ea typeface="Space Mono"/>
              <a:cs typeface="Space Mono"/>
              <a:sym typeface="Space Mono"/>
            </a:endParaRPr>
          </a:p>
          <a:p>
            <a:pPr indent="0" lvl="0" marL="0" rtl="0" algn="ctr">
              <a:spcBef>
                <a:spcPts val="1200"/>
              </a:spcBef>
              <a:spcAft>
                <a:spcPts val="0"/>
              </a:spcAft>
              <a:buNone/>
            </a:pPr>
            <a:r>
              <a:t/>
            </a:r>
            <a:endParaRPr sz="1300">
              <a:solidFill>
                <a:schemeClr val="dk2"/>
              </a:solidFill>
              <a:latin typeface="Space Mono"/>
              <a:ea typeface="Space Mono"/>
              <a:cs typeface="Space Mono"/>
              <a:sym typeface="Space Mono"/>
            </a:endParaRPr>
          </a:p>
          <a:p>
            <a:pPr indent="0" lvl="0" marL="0" rtl="0" algn="ctr">
              <a:spcBef>
                <a:spcPts val="1200"/>
              </a:spcBef>
              <a:spcAft>
                <a:spcPts val="0"/>
              </a:spcAft>
              <a:buNone/>
            </a:pPr>
            <a:r>
              <a:rPr b="1" lang="en">
                <a:solidFill>
                  <a:schemeClr val="dk2"/>
                </a:solidFill>
              </a:rPr>
              <a:t>Effective Query Sent:</a:t>
            </a:r>
            <a:endParaRPr b="1">
              <a:solidFill>
                <a:schemeClr val="dk2"/>
              </a:solidFill>
            </a:endParaRPr>
          </a:p>
          <a:p>
            <a:pPr indent="0" lvl="0" marL="0" rtl="0" algn="ctr">
              <a:spcBef>
                <a:spcPts val="1200"/>
              </a:spcBef>
              <a:spcAft>
                <a:spcPts val="1200"/>
              </a:spcAft>
              <a:buNone/>
            </a:pPr>
            <a:r>
              <a:rPr lang="en">
                <a:solidFill>
                  <a:schemeClr val="dk2"/>
                </a:solidFill>
                <a:latin typeface="Space Mono"/>
                <a:ea typeface="Space Mono"/>
                <a:cs typeface="Space Mono"/>
                <a:sym typeface="Space Mono"/>
              </a:rPr>
              <a:t>“ SELECT * FROM users WHERE username = ‘stengo’ ”</a:t>
            </a:r>
            <a:endParaRPr>
              <a:solidFill>
                <a:schemeClr val="dk2"/>
              </a:solidFill>
              <a:latin typeface="Space Mono"/>
              <a:ea typeface="Space Mono"/>
              <a:cs typeface="Space Mono"/>
              <a:sym typeface="Space Mono"/>
            </a:endParaRPr>
          </a:p>
        </p:txBody>
      </p:sp>
      <p:sp>
        <p:nvSpPr>
          <p:cNvPr id="266" name="Google Shape;266;p3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67" name="Google Shape;267;p3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68" name="Google Shape;268;p3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274" name="Google Shape;274;p3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75" name="Google Shape;275;p3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76" name="Google Shape;276;p3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277" name="Google Shape;277;p33"/>
          <p:cNvPicPr preferRelativeResize="0"/>
          <p:nvPr/>
        </p:nvPicPr>
        <p:blipFill>
          <a:blip r:embed="rId3">
            <a:alphaModFix/>
          </a:blip>
          <a:stretch>
            <a:fillRect/>
          </a:stretch>
        </p:blipFill>
        <p:spPr>
          <a:xfrm>
            <a:off x="1671063" y="1170125"/>
            <a:ext cx="5801874" cy="356331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283" name="Google Shape;283;p34"/>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Three main kinds of XSS: </a:t>
            </a:r>
            <a:endParaRPr b="1"/>
          </a:p>
          <a:p>
            <a:pPr indent="-330200" lvl="0" marL="457200" rtl="0" algn="l">
              <a:spcBef>
                <a:spcPts val="1200"/>
              </a:spcBef>
              <a:spcAft>
                <a:spcPts val="0"/>
              </a:spcAft>
              <a:buSzPts val="1600"/>
              <a:buAutoNum type="arabicPeriod"/>
            </a:pPr>
            <a:r>
              <a:rPr b="1" lang="en"/>
              <a:t>Reflected</a:t>
            </a:r>
            <a:r>
              <a:rPr lang="en"/>
              <a:t> = From clicking on a malicious link that leads to the application to “reflect” the script in the site’s response, causing victim’s browser to execute it</a:t>
            </a:r>
            <a:br>
              <a:rPr lang="en"/>
            </a:br>
            <a:endParaRPr/>
          </a:p>
          <a:p>
            <a:pPr indent="-330200" lvl="0" marL="457200" rtl="0" algn="l">
              <a:spcBef>
                <a:spcPts val="0"/>
              </a:spcBef>
              <a:spcAft>
                <a:spcPts val="0"/>
              </a:spcAft>
              <a:buSzPts val="1600"/>
              <a:buAutoNum type="arabicPeriod"/>
            </a:pPr>
            <a:r>
              <a:rPr b="1" lang="en"/>
              <a:t>Stored</a:t>
            </a:r>
            <a:r>
              <a:rPr lang="en"/>
              <a:t> = Malicious script is stored on the server/application itself, so that whenever someone then renders that script (e.g., forum post, comment field), it is executed on the victim’s browser</a:t>
            </a:r>
            <a:br>
              <a:rPr lang="en"/>
            </a:br>
            <a:endParaRPr/>
          </a:p>
          <a:p>
            <a:pPr indent="-330200" lvl="0" marL="457200" rtl="0" algn="l">
              <a:spcBef>
                <a:spcPts val="0"/>
              </a:spcBef>
              <a:spcAft>
                <a:spcPts val="0"/>
              </a:spcAft>
              <a:buSzPts val="1600"/>
              <a:buAutoNum type="arabicPeriod"/>
            </a:pPr>
            <a:r>
              <a:rPr b="1" lang="en"/>
              <a:t>Document Object Model (DOM)-based</a:t>
            </a:r>
            <a:r>
              <a:rPr lang="en"/>
              <a:t> = Exploiting the DOM “environment” of the victim’s browser (e.g., web app’s JavaScript writes to the DOM w/o proper sanitization)</a:t>
            </a:r>
            <a:endParaRPr/>
          </a:p>
        </p:txBody>
      </p:sp>
      <p:sp>
        <p:nvSpPr>
          <p:cNvPr id="284" name="Google Shape;284;p34"/>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85" name="Google Shape;285;p34"/>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86" name="Google Shape;286;p34"/>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Cross-Site Scripting</a:t>
            </a:r>
            <a:endParaRPr/>
          </a:p>
        </p:txBody>
      </p:sp>
      <p:sp>
        <p:nvSpPr>
          <p:cNvPr id="292" name="Google Shape;292;p35"/>
          <p:cNvSpPr txBox="1"/>
          <p:nvPr>
            <p:ph idx="1" type="body"/>
          </p:nvPr>
        </p:nvSpPr>
        <p:spPr>
          <a:xfrm>
            <a:off x="311700" y="1875975"/>
            <a:ext cx="3999900" cy="27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doctype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html</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meta</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charset</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"utf-8"</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title</a:t>
            </a:r>
            <a:r>
              <a:rPr b="1" lang="en" sz="1000">
                <a:solidFill>
                  <a:srgbClr val="EE11FF"/>
                </a:solidFill>
                <a:latin typeface="Roboto Mono"/>
                <a:ea typeface="Roboto Mono"/>
                <a:cs typeface="Roboto Mono"/>
                <a:sym typeface="Roboto Mono"/>
              </a:rPr>
              <a:t>&gt;</a:t>
            </a:r>
            <a:r>
              <a:rPr lang="en" sz="1000">
                <a:solidFill>
                  <a:srgbClr val="1AB1CD"/>
                </a:solidFill>
                <a:latin typeface="Roboto Mono"/>
                <a:ea typeface="Roboto Mono"/>
                <a:cs typeface="Roboto Mono"/>
                <a:sym typeface="Roboto Mono"/>
              </a:rPr>
              <a:t>Before</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/title&gt;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div</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id</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out</a:t>
            </a:r>
            <a:r>
              <a:rPr b="1" lang="en" sz="1000">
                <a:solidFill>
                  <a:srgbClr val="EE11FF"/>
                </a:solidFill>
                <a:latin typeface="Roboto Mono"/>
                <a:ea typeface="Roboto Mono"/>
                <a:cs typeface="Roboto Mono"/>
                <a:sym typeface="Roboto Mono"/>
              </a:rPr>
              <a:t>&gt;&lt;</a:t>
            </a:r>
            <a:r>
              <a:rPr lang="en" sz="1000">
                <a:solidFill>
                  <a:srgbClr val="F05000"/>
                </a:solidFill>
                <a:latin typeface="Roboto Mono"/>
                <a:ea typeface="Roboto Mono"/>
                <a:cs typeface="Roboto Mono"/>
                <a:sym typeface="Roboto Mono"/>
              </a:rPr>
              <a:t>/div&gt;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Hi</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first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forum</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Hello</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second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Where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next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would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be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rendered</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F05000"/>
              </a:solidFill>
              <a:latin typeface="Roboto Mono"/>
              <a:ea typeface="Roboto Mono"/>
              <a:cs typeface="Roboto Mono"/>
              <a:sym typeface="Roboto Mono"/>
            </a:endParaRPr>
          </a:p>
        </p:txBody>
      </p:sp>
      <p:sp>
        <p:nvSpPr>
          <p:cNvPr id="293" name="Google Shape;293;p35"/>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94" name="Google Shape;294;p35"/>
          <p:cNvSpPr txBox="1"/>
          <p:nvPr>
            <p:ph idx="3"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295" name="Google Shape;295;p35"/>
          <p:cNvSpPr txBox="1"/>
          <p:nvPr>
            <p:ph idx="4"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296" name="Google Shape;296;p35"/>
          <p:cNvSpPr txBox="1"/>
          <p:nvPr>
            <p:ph idx="2" type="body"/>
          </p:nvPr>
        </p:nvSpPr>
        <p:spPr>
          <a:xfrm>
            <a:off x="4805550" y="1875975"/>
            <a:ext cx="3999900" cy="27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doctype</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html</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meta</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charset</a:t>
            </a:r>
            <a:r>
              <a:rPr b="1" lang="en" sz="1000">
                <a:solidFill>
                  <a:srgbClr val="EE11FF"/>
                </a:solidFill>
                <a:latin typeface="Roboto Mono"/>
                <a:ea typeface="Roboto Mono"/>
                <a:cs typeface="Roboto Mono"/>
                <a:sym typeface="Roboto Mono"/>
              </a:rPr>
              <a:t>=</a:t>
            </a:r>
            <a:r>
              <a:rPr lang="en" sz="1000">
                <a:solidFill>
                  <a:srgbClr val="A01010"/>
                </a:solidFill>
                <a:latin typeface="Roboto Mono"/>
                <a:ea typeface="Roboto Mono"/>
                <a:cs typeface="Roboto Mono"/>
                <a:sym typeface="Roboto Mono"/>
              </a:rPr>
              <a:t>"utf-8"</a:t>
            </a:r>
            <a:r>
              <a:rPr b="1" lang="en" sz="1000">
                <a:solidFill>
                  <a:srgbClr val="EE11FF"/>
                </a:solidFill>
                <a:latin typeface="Roboto Mono"/>
                <a:ea typeface="Roboto Mono"/>
                <a:cs typeface="Roboto Mono"/>
                <a:sym typeface="Roboto Mono"/>
              </a:rPr>
              <a:t>&gt;&lt;</a:t>
            </a:r>
            <a:r>
              <a:rPr lang="en" sz="1000">
                <a:solidFill>
                  <a:srgbClr val="1AB1CD"/>
                </a:solidFill>
                <a:latin typeface="Roboto Mono"/>
                <a:ea typeface="Roboto Mono"/>
                <a:cs typeface="Roboto Mono"/>
                <a:sym typeface="Roboto Mono"/>
              </a:rPr>
              <a:t>title</a:t>
            </a:r>
            <a:r>
              <a:rPr b="1" lang="en" sz="1000">
                <a:solidFill>
                  <a:srgbClr val="EE11FF"/>
                </a:solidFill>
                <a:latin typeface="Roboto Mono"/>
                <a:ea typeface="Roboto Mono"/>
                <a:cs typeface="Roboto Mono"/>
                <a:sym typeface="Roboto Mono"/>
              </a:rPr>
              <a:t>&gt;</a:t>
            </a:r>
            <a:r>
              <a:rPr lang="en" sz="1000">
                <a:solidFill>
                  <a:srgbClr val="1AB1CD"/>
                </a:solidFill>
                <a:latin typeface="Roboto Mono"/>
                <a:ea typeface="Roboto Mono"/>
                <a:cs typeface="Roboto Mono"/>
                <a:sym typeface="Roboto Mono"/>
              </a:rPr>
              <a:t>Before</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/title&gt;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div</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id</a:t>
            </a:r>
            <a:r>
              <a:rPr b="1" lang="en" sz="1000">
                <a:solidFill>
                  <a:srgbClr val="EE11FF"/>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out</a:t>
            </a:r>
            <a:r>
              <a:rPr b="1" lang="en" sz="1000">
                <a:solidFill>
                  <a:srgbClr val="EE11FF"/>
                </a:solidFill>
                <a:latin typeface="Roboto Mono"/>
                <a:ea typeface="Roboto Mono"/>
                <a:cs typeface="Roboto Mono"/>
                <a:sym typeface="Roboto Mono"/>
              </a:rPr>
              <a:t>&gt;&lt;</a:t>
            </a:r>
            <a:r>
              <a:rPr lang="en" sz="1000">
                <a:solidFill>
                  <a:srgbClr val="F05000"/>
                </a:solidFill>
                <a:latin typeface="Roboto Mono"/>
                <a:ea typeface="Roboto Mono"/>
                <a:cs typeface="Roboto Mono"/>
                <a:sym typeface="Roboto Mono"/>
              </a:rPr>
              <a:t>/div&gt;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Hi</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first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forum</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Hello</a:t>
            </a:r>
            <a:r>
              <a:rPr b="1" lang="en" sz="1000">
                <a:solidFill>
                  <a:srgbClr val="EE11FF"/>
                </a:solidFill>
                <a:latin typeface="Roboto Mono"/>
                <a:ea typeface="Roboto Mono"/>
                <a:cs typeface="Roboto Mono"/>
                <a:sym typeface="Roboto Mono"/>
              </a:rPr>
              <a: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This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is</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my</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second</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post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/p&gt;</a:t>
            </a:r>
            <a:endParaRPr sz="1000">
              <a:solidFill>
                <a:srgbClr val="000000"/>
              </a:solidFill>
              <a:latin typeface="Roboto Mono"/>
              <a:ea typeface="Roboto Mono"/>
              <a:cs typeface="Roboto Mono"/>
              <a:sym typeface="Roboto Mono"/>
            </a:endParaRPr>
          </a:p>
          <a:p>
            <a:pPr indent="0" lvl="0" marL="0" rtl="0" algn="l">
              <a:spcBef>
                <a:spcPts val="1200"/>
              </a:spcBef>
              <a:spcAft>
                <a:spcPts val="0"/>
              </a:spcAft>
              <a:buNone/>
            </a:pPr>
            <a:r>
              <a:rPr lang="en" sz="1000">
                <a:solidFill>
                  <a:srgbClr val="505050"/>
                </a:solidFill>
                <a:latin typeface="Roboto Mono"/>
                <a:ea typeface="Roboto Mono"/>
                <a:cs typeface="Roboto Mono"/>
                <a:sym typeface="Roboto Mono"/>
              </a:rPr>
              <a:t>...</a:t>
            </a:r>
            <a:endParaRPr sz="1000">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1AB1CD"/>
                </a:solidFill>
                <a:latin typeface="Roboto Mono"/>
                <a:ea typeface="Roboto Mono"/>
                <a:cs typeface="Roboto Mono"/>
                <a:sym typeface="Roboto Mono"/>
              </a:rPr>
              <a:t>script</a:t>
            </a:r>
            <a:r>
              <a:rPr b="1" lang="en" sz="1000">
                <a:solidFill>
                  <a:srgbClr val="EE11FF"/>
                </a:solidFill>
                <a:latin typeface="Roboto Mono"/>
                <a:ea typeface="Roboto Mono"/>
                <a:cs typeface="Roboto Mono"/>
                <a:sym typeface="Roboto Mono"/>
              </a:rPr>
              <a:t>&gt;</a:t>
            </a:r>
            <a:r>
              <a:rPr lang="en" sz="1000">
                <a:solidFill>
                  <a:srgbClr val="000000"/>
                </a:solidFill>
                <a:latin typeface="Roboto Mono"/>
                <a:ea typeface="Roboto Mono"/>
                <a:cs typeface="Roboto Mono"/>
                <a:sym typeface="Roboto Mono"/>
              </a:rPr>
              <a:t> </a:t>
            </a:r>
            <a:r>
              <a:rPr lang="en" sz="1000">
                <a:solidFill>
                  <a:srgbClr val="1AB1CD"/>
                </a:solidFill>
                <a:latin typeface="Roboto Mono"/>
                <a:ea typeface="Roboto Mono"/>
                <a:cs typeface="Roboto Mono"/>
                <a:sym typeface="Roboto Mono"/>
              </a:rPr>
              <a:t>alert</a:t>
            </a:r>
            <a:r>
              <a:rPr lang="en" sz="1000">
                <a:solidFill>
                  <a:srgbClr val="000000"/>
                </a:solidFill>
                <a:latin typeface="Roboto Mono"/>
                <a:ea typeface="Roboto Mono"/>
                <a:cs typeface="Roboto Mono"/>
                <a:sym typeface="Roboto Mono"/>
              </a:rPr>
              <a:t>(</a:t>
            </a:r>
            <a:r>
              <a:rPr lang="en" sz="1000">
                <a:solidFill>
                  <a:srgbClr val="1AB1CD"/>
                </a:solidFill>
                <a:latin typeface="Roboto Mono"/>
                <a:ea typeface="Roboto Mono"/>
                <a:cs typeface="Roboto Mono"/>
                <a:sym typeface="Roboto Mono"/>
              </a:rPr>
              <a:t>“1”</a:t>
            </a:r>
            <a:r>
              <a:rPr lang="en" sz="1000">
                <a:solidFill>
                  <a:srgbClr val="000000"/>
                </a:solidFill>
                <a:latin typeface="Roboto Mono"/>
                <a:ea typeface="Roboto Mono"/>
                <a:cs typeface="Roboto Mono"/>
                <a:sym typeface="Roboto Mono"/>
              </a:rPr>
              <a:t>) </a:t>
            </a:r>
            <a:r>
              <a:rPr b="1" lang="en" sz="1000">
                <a:solidFill>
                  <a:srgbClr val="EE11FF"/>
                </a:solidFill>
                <a:latin typeface="Roboto Mono"/>
                <a:ea typeface="Roboto Mono"/>
                <a:cs typeface="Roboto Mono"/>
                <a:sym typeface="Roboto Mono"/>
              </a:rPr>
              <a:t>&lt;</a:t>
            </a:r>
            <a:r>
              <a:rPr lang="en" sz="1000">
                <a:solidFill>
                  <a:srgbClr val="F05000"/>
                </a:solidFill>
                <a:latin typeface="Roboto Mono"/>
                <a:ea typeface="Roboto Mono"/>
                <a:cs typeface="Roboto Mono"/>
                <a:sym typeface="Roboto Mono"/>
              </a:rPr>
              <a:t>/script&gt; &lt;/</a:t>
            </a:r>
            <a:r>
              <a:rPr lang="en" sz="1000">
                <a:solidFill>
                  <a:srgbClr val="1AB1CD"/>
                </a:solidFill>
                <a:latin typeface="Roboto Mono"/>
                <a:ea typeface="Roboto Mono"/>
                <a:cs typeface="Roboto Mono"/>
                <a:sym typeface="Roboto Mono"/>
              </a:rPr>
              <a:t>p</a:t>
            </a:r>
            <a:r>
              <a:rPr b="1" lang="en" sz="1000">
                <a:solidFill>
                  <a:srgbClr val="EE11FF"/>
                </a:solidFill>
                <a:latin typeface="Roboto Mono"/>
                <a:ea typeface="Roboto Mono"/>
                <a:cs typeface="Roboto Mono"/>
                <a:sym typeface="Roboto Mono"/>
              </a:rPr>
              <a:t>&gt;</a:t>
            </a:r>
            <a:endParaRPr b="1">
              <a:solidFill>
                <a:srgbClr val="EE11FF"/>
              </a:solidFill>
              <a:latin typeface="Roboto Mono"/>
              <a:ea typeface="Roboto Mono"/>
              <a:cs typeface="Roboto Mono"/>
              <a:sym typeface="Roboto Mono"/>
            </a:endParaRPr>
          </a:p>
        </p:txBody>
      </p:sp>
      <p:sp>
        <p:nvSpPr>
          <p:cNvPr id="297" name="Google Shape;297;p35"/>
          <p:cNvSpPr txBox="1"/>
          <p:nvPr/>
        </p:nvSpPr>
        <p:spPr>
          <a:xfrm>
            <a:off x="367950" y="1101900"/>
            <a:ext cx="8464500" cy="38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777777"/>
                </a:solidFill>
                <a:latin typeface="Open Sans"/>
                <a:ea typeface="Open Sans"/>
                <a:cs typeface="Open Sans"/>
                <a:sym typeface="Open Sans"/>
              </a:rPr>
              <a:t>Focusing on </a:t>
            </a:r>
            <a:r>
              <a:rPr b="1" lang="en" sz="1600" u="sng">
                <a:solidFill>
                  <a:srgbClr val="777777"/>
                </a:solidFill>
                <a:latin typeface="Open Sans"/>
                <a:ea typeface="Open Sans"/>
                <a:cs typeface="Open Sans"/>
                <a:sym typeface="Open Sans"/>
              </a:rPr>
              <a:t>Stored</a:t>
            </a:r>
            <a:r>
              <a:rPr b="1" lang="en" sz="1600">
                <a:solidFill>
                  <a:srgbClr val="777777"/>
                </a:solidFill>
                <a:latin typeface="Open Sans"/>
                <a:ea typeface="Open Sans"/>
                <a:cs typeface="Open Sans"/>
                <a:sym typeface="Open Sans"/>
              </a:rPr>
              <a:t> XSS</a:t>
            </a:r>
            <a:r>
              <a:rPr lang="en" sz="1600">
                <a:solidFill>
                  <a:srgbClr val="777777"/>
                </a:solidFill>
                <a:latin typeface="Open Sans"/>
                <a:ea typeface="Open Sans"/>
                <a:cs typeface="Open Sans"/>
                <a:sym typeface="Open Sans"/>
              </a:rPr>
              <a:t>...</a:t>
            </a:r>
            <a:endParaRPr sz="1600">
              <a:solidFill>
                <a:srgbClr val="777777"/>
              </a:solidFill>
              <a:latin typeface="Open Sans"/>
              <a:ea typeface="Open Sans"/>
              <a:cs typeface="Open Sans"/>
              <a:sym typeface="Open Sans"/>
            </a:endParaRPr>
          </a:p>
        </p:txBody>
      </p:sp>
      <p:sp>
        <p:nvSpPr>
          <p:cNvPr id="298" name="Google Shape;298;p35"/>
          <p:cNvSpPr txBox="1"/>
          <p:nvPr/>
        </p:nvSpPr>
        <p:spPr>
          <a:xfrm>
            <a:off x="407525" y="1467887"/>
            <a:ext cx="35511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777777"/>
                </a:solidFill>
                <a:latin typeface="Open Sans"/>
                <a:ea typeface="Open Sans"/>
                <a:cs typeface="Open Sans"/>
                <a:sym typeface="Open Sans"/>
              </a:rPr>
              <a:t>Before Payload</a:t>
            </a:r>
            <a:endParaRPr b="1" sz="1600">
              <a:solidFill>
                <a:srgbClr val="777777"/>
              </a:solidFill>
              <a:latin typeface="Open Sans"/>
              <a:ea typeface="Open Sans"/>
              <a:cs typeface="Open Sans"/>
              <a:sym typeface="Open Sans"/>
            </a:endParaRPr>
          </a:p>
        </p:txBody>
      </p:sp>
      <p:sp>
        <p:nvSpPr>
          <p:cNvPr id="299" name="Google Shape;299;p35"/>
          <p:cNvSpPr txBox="1"/>
          <p:nvPr/>
        </p:nvSpPr>
        <p:spPr>
          <a:xfrm>
            <a:off x="4805550" y="1467874"/>
            <a:ext cx="3551100" cy="30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777777"/>
                </a:solidFill>
                <a:latin typeface="Open Sans"/>
                <a:ea typeface="Open Sans"/>
                <a:cs typeface="Open Sans"/>
                <a:sym typeface="Open Sans"/>
              </a:rPr>
              <a:t>After</a:t>
            </a:r>
            <a:r>
              <a:rPr b="1" lang="en" sz="1600">
                <a:solidFill>
                  <a:srgbClr val="777777"/>
                </a:solidFill>
                <a:latin typeface="Open Sans"/>
                <a:ea typeface="Open Sans"/>
                <a:cs typeface="Open Sans"/>
                <a:sym typeface="Open Sans"/>
              </a:rPr>
              <a:t> Payload</a:t>
            </a:r>
            <a:endParaRPr b="1" sz="1600">
              <a:solidFill>
                <a:srgbClr val="777777"/>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File Inclusion</a:t>
            </a:r>
            <a:endParaRPr/>
          </a:p>
        </p:txBody>
      </p:sp>
      <p:sp>
        <p:nvSpPr>
          <p:cNvPr id="305" name="Google Shape;305;p36"/>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Scenario</a:t>
            </a:r>
            <a:r>
              <a:rPr lang="en"/>
              <a:t>: Imagine if your website directly accesses the local file system for a specific reason (e.g., to load images, render file text) → image repository</a:t>
            </a:r>
            <a:br>
              <a:rPr lang="en"/>
            </a:br>
            <a:endParaRPr/>
          </a:p>
          <a:p>
            <a:pPr indent="0" lvl="0" marL="0" rtl="0" algn="l">
              <a:spcBef>
                <a:spcPts val="1200"/>
              </a:spcBef>
              <a:spcAft>
                <a:spcPts val="0"/>
              </a:spcAft>
              <a:buNone/>
            </a:pPr>
            <a:r>
              <a:rPr b="1" lang="en"/>
              <a:t>URL: </a:t>
            </a:r>
            <a:r>
              <a:rPr lang="en">
                <a:latin typeface="Space Mono"/>
                <a:ea typeface="Space Mono"/>
                <a:cs typeface="Space Mono"/>
                <a:sym typeface="Space Mono"/>
              </a:rPr>
              <a:t>https://catimages.com/?img=calico_cat1.png</a:t>
            </a:r>
            <a:br>
              <a:rPr lang="en">
                <a:latin typeface="Space Mono"/>
                <a:ea typeface="Space Mono"/>
                <a:cs typeface="Space Mono"/>
                <a:sym typeface="Space Mono"/>
              </a:rPr>
            </a:br>
            <a:endParaRPr>
              <a:latin typeface="Space Mono"/>
              <a:ea typeface="Space Mono"/>
              <a:cs typeface="Space Mono"/>
              <a:sym typeface="Space Mono"/>
            </a:endParaRPr>
          </a:p>
          <a:p>
            <a:pPr indent="0" lvl="0" marL="0" rtl="0" algn="l">
              <a:spcBef>
                <a:spcPts val="1200"/>
              </a:spcBef>
              <a:spcAft>
                <a:spcPts val="0"/>
              </a:spcAft>
              <a:buNone/>
            </a:pPr>
            <a:r>
              <a:rPr b="1" lang="en"/>
              <a:t>(Fictional) code behind the scenes:</a:t>
            </a:r>
            <a:br>
              <a:rPr lang="en"/>
            </a:br>
            <a:r>
              <a:rPr lang="en">
                <a:solidFill>
                  <a:srgbClr val="1AB1CD"/>
                </a:solidFill>
                <a:latin typeface="Roboto Mono"/>
                <a:ea typeface="Roboto Mono"/>
                <a:cs typeface="Roboto Mono"/>
                <a:sym typeface="Roboto Mono"/>
              </a:rPr>
              <a:t>f</a:t>
            </a:r>
            <a:r>
              <a:rPr lang="en">
                <a:solidFill>
                  <a:srgbClr val="1AB1CD"/>
                </a:solidFill>
                <a:latin typeface="Roboto Mono"/>
                <a:ea typeface="Roboto Mono"/>
                <a:cs typeface="Roboto Mono"/>
                <a:sym typeface="Roboto Mono"/>
              </a:rPr>
              <a:t>ilename</a:t>
            </a:r>
            <a:r>
              <a:rPr lang="en">
                <a:solidFill>
                  <a:srgbClr val="000000"/>
                </a:solidFill>
                <a:latin typeface="Roboto Mono"/>
                <a:ea typeface="Roboto Mono"/>
                <a:cs typeface="Roboto Mono"/>
                <a:sym typeface="Roboto Mono"/>
              </a:rPr>
              <a:t> </a:t>
            </a:r>
            <a:r>
              <a:rPr b="1" lang="en">
                <a:solidFill>
                  <a:srgbClr val="EE11FF"/>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request</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args</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get</a:t>
            </a:r>
            <a:r>
              <a:rPr lang="en">
                <a:solidFill>
                  <a:srgbClr val="000000"/>
                </a:solidFill>
                <a:latin typeface="Roboto Mono"/>
                <a:ea typeface="Roboto Mono"/>
                <a:cs typeface="Roboto Mono"/>
                <a:sym typeface="Roboto Mono"/>
              </a:rPr>
              <a:t>(</a:t>
            </a:r>
            <a:r>
              <a:rPr lang="en">
                <a:solidFill>
                  <a:srgbClr val="1AB1CD"/>
                </a:solidFill>
                <a:latin typeface="Roboto Mono"/>
                <a:ea typeface="Roboto Mono"/>
                <a:cs typeface="Roboto Mono"/>
                <a:sym typeface="Roboto Mono"/>
              </a:rPr>
              <a:t>‘img’</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a:p>
            <a:pPr indent="0" lvl="0" marL="0" rtl="0" algn="l">
              <a:spcBef>
                <a:spcPts val="1200"/>
              </a:spcBef>
              <a:spcAft>
                <a:spcPts val="1200"/>
              </a:spcAft>
              <a:buNone/>
            </a:pPr>
            <a:r>
              <a:rPr b="1" lang="en">
                <a:solidFill>
                  <a:srgbClr val="700080"/>
                </a:solidFill>
                <a:latin typeface="Roboto Mono"/>
                <a:ea typeface="Roboto Mono"/>
                <a:cs typeface="Roboto Mono"/>
                <a:sym typeface="Roboto Mono"/>
              </a:rPr>
              <a:t>with</a:t>
            </a:r>
            <a:r>
              <a:rPr lang="en">
                <a:solidFill>
                  <a:srgbClr val="000000"/>
                </a:solidFill>
                <a:latin typeface="Roboto Mono"/>
                <a:ea typeface="Roboto Mono"/>
                <a:cs typeface="Roboto Mono"/>
                <a:sym typeface="Roboto Mono"/>
              </a:rPr>
              <a:t> </a:t>
            </a:r>
            <a:r>
              <a:rPr lang="en">
                <a:solidFill>
                  <a:srgbClr val="3000A0"/>
                </a:solidFill>
                <a:latin typeface="Roboto Mono"/>
                <a:ea typeface="Roboto Mono"/>
                <a:cs typeface="Roboto Mono"/>
                <a:sym typeface="Roboto Mono"/>
              </a:rPr>
              <a:t>open</a:t>
            </a:r>
            <a:r>
              <a:rPr lang="en">
                <a:solidFill>
                  <a:srgbClr val="000000"/>
                </a:solidFill>
                <a:latin typeface="Roboto Mono"/>
                <a:ea typeface="Roboto Mono"/>
                <a:cs typeface="Roboto Mono"/>
                <a:sym typeface="Roboto Mono"/>
              </a:rPr>
              <a:t>(</a:t>
            </a:r>
            <a:r>
              <a:rPr lang="en">
                <a:solidFill>
                  <a:srgbClr val="1AB1CD"/>
                </a:solidFill>
                <a:latin typeface="Roboto Mono"/>
                <a:ea typeface="Roboto Mono"/>
                <a:cs typeface="Roboto Mono"/>
                <a:sym typeface="Roboto Mono"/>
              </a:rPr>
              <a:t>filename</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‘r’</a:t>
            </a:r>
            <a:r>
              <a:rPr lang="en">
                <a:solidFill>
                  <a:srgbClr val="000000"/>
                </a:solidFill>
                <a:latin typeface="Roboto Mono"/>
                <a:ea typeface="Roboto Mono"/>
                <a:cs typeface="Roboto Mono"/>
                <a:sym typeface="Roboto Mono"/>
              </a:rPr>
              <a:t>) </a:t>
            </a:r>
            <a:r>
              <a:rPr b="1" lang="en">
                <a:solidFill>
                  <a:srgbClr val="700080"/>
                </a:solidFill>
                <a:latin typeface="Roboto Mono"/>
                <a:ea typeface="Roboto Mono"/>
                <a:cs typeface="Roboto Mono"/>
                <a:sym typeface="Roboto Mono"/>
              </a:rPr>
              <a:t>as</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f</a:t>
            </a:r>
            <a:r>
              <a:rPr lang="en">
                <a:solidFill>
                  <a:srgbClr val="000000"/>
                </a:solidFill>
                <a:latin typeface="Roboto Mono"/>
                <a:ea typeface="Roboto Mono"/>
                <a:cs typeface="Roboto Mono"/>
                <a:sym typeface="Roboto Mono"/>
              </a:rPr>
              <a:t>:</a:t>
            </a:r>
            <a:br>
              <a:rPr lang="en">
                <a:solidFill>
                  <a:srgbClr val="000000"/>
                </a:solidFill>
                <a:latin typeface="Roboto Mono"/>
                <a:ea typeface="Roboto Mono"/>
                <a:cs typeface="Roboto Mono"/>
                <a:sym typeface="Roboto Mono"/>
              </a:rPr>
            </a:b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c</a:t>
            </a:r>
            <a:r>
              <a:rPr lang="en">
                <a:solidFill>
                  <a:srgbClr val="1AB1CD"/>
                </a:solidFill>
                <a:latin typeface="Roboto Mono"/>
                <a:ea typeface="Roboto Mono"/>
                <a:cs typeface="Roboto Mono"/>
                <a:sym typeface="Roboto Mono"/>
              </a:rPr>
              <a:t>ontent</a:t>
            </a:r>
            <a:r>
              <a:rPr lang="en">
                <a:solidFill>
                  <a:srgbClr val="000000"/>
                </a:solidFill>
                <a:latin typeface="Roboto Mono"/>
                <a:ea typeface="Roboto Mono"/>
                <a:cs typeface="Roboto Mono"/>
                <a:sym typeface="Roboto Mono"/>
              </a:rPr>
              <a:t> </a:t>
            </a:r>
            <a:r>
              <a:rPr b="1" lang="en">
                <a:solidFill>
                  <a:srgbClr val="EE11FF"/>
                </a:solidFill>
                <a:latin typeface="Roboto Mono"/>
                <a:ea typeface="Roboto Mono"/>
                <a:cs typeface="Roboto Mono"/>
                <a:sym typeface="Roboto Mono"/>
              </a:rPr>
              <a:t>=</a:t>
            </a:r>
            <a:r>
              <a:rPr lang="en">
                <a:solidFill>
                  <a:srgbClr val="000000"/>
                </a:solidFill>
                <a:latin typeface="Roboto Mono"/>
                <a:ea typeface="Roboto Mono"/>
                <a:cs typeface="Roboto Mono"/>
                <a:sym typeface="Roboto Mono"/>
              </a:rPr>
              <a:t> </a:t>
            </a:r>
            <a:r>
              <a:rPr lang="en">
                <a:solidFill>
                  <a:srgbClr val="1AB1CD"/>
                </a:solidFill>
                <a:latin typeface="Roboto Mono"/>
                <a:ea typeface="Roboto Mono"/>
                <a:cs typeface="Roboto Mono"/>
                <a:sym typeface="Roboto Mono"/>
              </a:rPr>
              <a:t>f</a:t>
            </a:r>
            <a:r>
              <a:rPr lang="en">
                <a:solidFill>
                  <a:srgbClr val="000000"/>
                </a:solidFill>
                <a:latin typeface="Roboto Mono"/>
                <a:ea typeface="Roboto Mono"/>
                <a:cs typeface="Roboto Mono"/>
                <a:sym typeface="Roboto Mono"/>
              </a:rPr>
              <a:t>.</a:t>
            </a:r>
            <a:r>
              <a:rPr lang="en">
                <a:solidFill>
                  <a:srgbClr val="572000"/>
                </a:solidFill>
                <a:latin typeface="Roboto Mono"/>
                <a:ea typeface="Roboto Mono"/>
                <a:cs typeface="Roboto Mono"/>
                <a:sym typeface="Roboto Mono"/>
              </a:rPr>
              <a:t>display</a:t>
            </a:r>
            <a:r>
              <a:rPr lang="en">
                <a:solidFill>
                  <a:srgbClr val="000000"/>
                </a:solidFill>
                <a:latin typeface="Roboto Mono"/>
                <a:ea typeface="Roboto Mono"/>
                <a:cs typeface="Roboto Mono"/>
                <a:sym typeface="Roboto Mono"/>
              </a:rPr>
              <a:t>()</a:t>
            </a:r>
            <a:endParaRPr>
              <a:solidFill>
                <a:srgbClr val="000000"/>
              </a:solidFill>
              <a:latin typeface="Roboto Mono"/>
              <a:ea typeface="Roboto Mono"/>
              <a:cs typeface="Roboto Mono"/>
              <a:sym typeface="Roboto Mono"/>
            </a:endParaRPr>
          </a:p>
        </p:txBody>
      </p:sp>
      <p:sp>
        <p:nvSpPr>
          <p:cNvPr id="306" name="Google Shape;306;p36"/>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07" name="Google Shape;307;p36"/>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08" name="Google Shape;308;p36"/>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Local File Inclusion</a:t>
            </a:r>
            <a:endParaRPr/>
          </a:p>
        </p:txBody>
      </p:sp>
      <p:sp>
        <p:nvSpPr>
          <p:cNvPr id="314" name="Google Shape;314;p37"/>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b="1" lang="en">
                <a:solidFill>
                  <a:schemeClr val="dk2"/>
                </a:solidFill>
              </a:rPr>
              <a:t>Assume: </a:t>
            </a:r>
            <a:r>
              <a:rPr lang="en">
                <a:solidFill>
                  <a:schemeClr val="dk2"/>
                </a:solidFill>
              </a:rPr>
              <a:t>The web server is hosted on a Linux server, so you can use the Linux file path formatting to your advantage…..</a:t>
            </a:r>
            <a:br>
              <a:rPr lang="en">
                <a:solidFill>
                  <a:schemeClr val="dk2"/>
                </a:solidFill>
              </a:rPr>
            </a:br>
            <a:br>
              <a:rPr lang="en">
                <a:solidFill>
                  <a:schemeClr val="dk2"/>
                </a:solidFill>
              </a:rPr>
            </a:br>
            <a:r>
              <a:rPr b="1" lang="en">
                <a:solidFill>
                  <a:schemeClr val="dk2"/>
                </a:solidFill>
              </a:rPr>
              <a:t>Modified URL</a:t>
            </a:r>
            <a:r>
              <a:rPr lang="en">
                <a:solidFill>
                  <a:schemeClr val="dk2"/>
                </a:solidFill>
              </a:rPr>
              <a:t>: </a:t>
            </a:r>
            <a:r>
              <a:rPr lang="en">
                <a:solidFill>
                  <a:schemeClr val="dk2"/>
                </a:solidFill>
                <a:latin typeface="Space Mono"/>
                <a:ea typeface="Space Mono"/>
                <a:cs typeface="Space Mono"/>
                <a:sym typeface="Space Mono"/>
              </a:rPr>
              <a:t>https://catimages.com/?img=../../../../../etc/passwd</a:t>
            </a:r>
            <a:endParaRPr b="1"/>
          </a:p>
        </p:txBody>
      </p:sp>
      <p:sp>
        <p:nvSpPr>
          <p:cNvPr id="315" name="Google Shape;315;p37"/>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16" name="Google Shape;316;p37"/>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17" name="Google Shape;317;p37"/>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318" name="Google Shape;318;p37"/>
          <p:cNvPicPr preferRelativeResize="0"/>
          <p:nvPr/>
        </p:nvPicPr>
        <p:blipFill>
          <a:blip r:embed="rId3">
            <a:alphaModFix/>
          </a:blip>
          <a:stretch>
            <a:fillRect/>
          </a:stretch>
        </p:blipFill>
        <p:spPr>
          <a:xfrm>
            <a:off x="1214425" y="2650863"/>
            <a:ext cx="6715200" cy="1971600"/>
          </a:xfrm>
          <a:prstGeom prst="roundRect">
            <a:avLst>
              <a:gd fmla="val 16667" name="adj"/>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Insecure Direct Object References (IDOR)</a:t>
            </a:r>
            <a:endParaRPr sz="2500"/>
          </a:p>
        </p:txBody>
      </p:sp>
      <p:sp>
        <p:nvSpPr>
          <p:cNvPr id="324" name="Google Shape;324;p38"/>
          <p:cNvSpPr txBox="1"/>
          <p:nvPr>
            <p:ph idx="1" type="body"/>
          </p:nvPr>
        </p:nvSpPr>
        <p:spPr>
          <a:xfrm>
            <a:off x="311700" y="1132275"/>
            <a:ext cx="8520600" cy="206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Picture this: </a:t>
            </a:r>
            <a:r>
              <a:rPr lang="en"/>
              <a:t>After you login to your bank account, you get the following URL - </a:t>
            </a:r>
            <a:br>
              <a:rPr lang="en"/>
            </a:br>
            <a:br>
              <a:rPr lang="en"/>
            </a:br>
            <a:r>
              <a:rPr lang="en" sz="2000">
                <a:latin typeface="Space Mono"/>
                <a:ea typeface="Space Mono"/>
                <a:cs typeface="Space Mono"/>
                <a:sym typeface="Space Mono"/>
              </a:rPr>
              <a:t>https://mellsmargo.com/account?user_id=2365832</a:t>
            </a:r>
            <a:br>
              <a:rPr lang="en" sz="2000">
                <a:latin typeface="Space Mono"/>
                <a:ea typeface="Space Mono"/>
                <a:cs typeface="Space Mono"/>
                <a:sym typeface="Space Mono"/>
              </a:rPr>
            </a:br>
            <a:endParaRPr sz="2000">
              <a:latin typeface="Space Mono"/>
              <a:ea typeface="Space Mono"/>
              <a:cs typeface="Space Mono"/>
              <a:sym typeface="Space Mono"/>
            </a:endParaRPr>
          </a:p>
          <a:p>
            <a:pPr indent="0" lvl="0" marL="0" rtl="0" algn="ctr">
              <a:spcBef>
                <a:spcPts val="1200"/>
              </a:spcBef>
              <a:spcAft>
                <a:spcPts val="1200"/>
              </a:spcAft>
              <a:buNone/>
            </a:pPr>
            <a:r>
              <a:rPr lang="en"/>
              <a:t>What component of the URL would be </a:t>
            </a:r>
            <a:r>
              <a:rPr b="1" lang="en" u="sng"/>
              <a:t>different for each user</a:t>
            </a:r>
            <a:r>
              <a:rPr lang="en"/>
              <a:t> of the bank’s website?</a:t>
            </a:r>
            <a:r>
              <a:rPr lang="en">
                <a:latin typeface="Space Mono"/>
                <a:ea typeface="Space Mono"/>
                <a:cs typeface="Space Mono"/>
                <a:sym typeface="Space Mono"/>
              </a:rPr>
              <a:t> </a:t>
            </a:r>
            <a:br>
              <a:rPr lang="en">
                <a:latin typeface="Space Mono"/>
                <a:ea typeface="Space Mono"/>
                <a:cs typeface="Space Mono"/>
                <a:sym typeface="Space Mono"/>
              </a:rPr>
            </a:br>
            <a:endParaRPr>
              <a:latin typeface="Space Mono"/>
              <a:ea typeface="Space Mono"/>
              <a:cs typeface="Space Mono"/>
              <a:sym typeface="Space Mono"/>
            </a:endParaRPr>
          </a:p>
        </p:txBody>
      </p:sp>
      <p:sp>
        <p:nvSpPr>
          <p:cNvPr id="325" name="Google Shape;325;p38"/>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26" name="Google Shape;326;p38"/>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27" name="Google Shape;327;p38"/>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
        <p:nvSpPr>
          <p:cNvPr id="328" name="Google Shape;328;p38"/>
          <p:cNvSpPr txBox="1"/>
          <p:nvPr/>
        </p:nvSpPr>
        <p:spPr>
          <a:xfrm>
            <a:off x="793500" y="3198975"/>
            <a:ext cx="7557000" cy="122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rgbClr val="777777"/>
                </a:solidFill>
                <a:latin typeface="Space Mono"/>
                <a:ea typeface="Space Mono"/>
                <a:cs typeface="Space Mono"/>
                <a:sym typeface="Space Mono"/>
              </a:rPr>
              <a:t>https://mellsmargo.com/account?user_id=1</a:t>
            </a:r>
            <a:br>
              <a:rPr lang="en" sz="1900">
                <a:solidFill>
                  <a:srgbClr val="777777"/>
                </a:solidFill>
                <a:latin typeface="Space Mono"/>
                <a:ea typeface="Space Mono"/>
                <a:cs typeface="Space Mono"/>
                <a:sym typeface="Space Mono"/>
              </a:rPr>
            </a:br>
            <a:r>
              <a:rPr lang="en" sz="1900">
                <a:solidFill>
                  <a:srgbClr val="777777"/>
                </a:solidFill>
                <a:latin typeface="Space Mono"/>
                <a:ea typeface="Space Mono"/>
                <a:cs typeface="Space Mono"/>
                <a:sym typeface="Space Mono"/>
              </a:rPr>
              <a:t>https://mellsmargo.com/account?user_id=2365831</a:t>
            </a:r>
            <a:br>
              <a:rPr lang="en" sz="1900">
                <a:solidFill>
                  <a:srgbClr val="777777"/>
                </a:solidFill>
                <a:latin typeface="Space Mono"/>
                <a:ea typeface="Space Mono"/>
                <a:cs typeface="Space Mono"/>
                <a:sym typeface="Space Mono"/>
              </a:rPr>
            </a:br>
            <a:r>
              <a:rPr lang="en" sz="1900">
                <a:solidFill>
                  <a:srgbClr val="777777"/>
                </a:solidFill>
                <a:latin typeface="Space Mono"/>
                <a:ea typeface="Space Mono"/>
                <a:cs typeface="Space Mono"/>
                <a:sym typeface="Space Mono"/>
              </a:rPr>
              <a:t>...</a:t>
            </a:r>
            <a:endParaRPr sz="1900">
              <a:solidFill>
                <a:srgbClr val="777777"/>
              </a:solidFill>
              <a:latin typeface="Space Mono"/>
              <a:ea typeface="Space Mono"/>
              <a:cs typeface="Space Mono"/>
              <a:sym typeface="Space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IDORs</a:t>
            </a:r>
            <a:endParaRPr/>
          </a:p>
        </p:txBody>
      </p:sp>
      <p:sp>
        <p:nvSpPr>
          <p:cNvPr id="334" name="Google Shape;334;p39"/>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35" name="Google Shape;335;p39"/>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36" name="Google Shape;336;p39"/>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id="337" name="Google Shape;337;p39"/>
          <p:cNvPicPr preferRelativeResize="0"/>
          <p:nvPr/>
        </p:nvPicPr>
        <p:blipFill>
          <a:blip r:embed="rId3">
            <a:alphaModFix/>
          </a:blip>
          <a:stretch>
            <a:fillRect/>
          </a:stretch>
        </p:blipFill>
        <p:spPr>
          <a:xfrm>
            <a:off x="1092613" y="1017725"/>
            <a:ext cx="6958800" cy="3563400"/>
          </a:xfrm>
          <a:prstGeom prst="roundRect">
            <a:avLst>
              <a:gd fmla="val 16667" name="adj"/>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AppSec CTF!</a:t>
            </a:r>
            <a:endParaRPr/>
          </a:p>
        </p:txBody>
      </p:sp>
      <p:sp>
        <p:nvSpPr>
          <p:cNvPr id="343" name="Google Shape;343;p40"/>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Go to </a:t>
            </a:r>
            <a:r>
              <a:rPr lang="en" sz="2000" u="sng">
                <a:solidFill>
                  <a:schemeClr val="hlink"/>
                </a:solidFill>
                <a:hlinkClick r:id="rId3"/>
              </a:rPr>
              <a:t>ctfd.cyberuci.com</a:t>
            </a:r>
            <a:r>
              <a:rPr lang="en" sz="2000"/>
              <a:t>, and create an account</a:t>
            </a:r>
            <a:br>
              <a:rPr lang="en" sz="2000"/>
            </a:br>
            <a:endParaRPr sz="2000"/>
          </a:p>
          <a:p>
            <a:pPr indent="-355600" lvl="0" marL="457200" rtl="0" algn="l">
              <a:spcBef>
                <a:spcPts val="0"/>
              </a:spcBef>
              <a:spcAft>
                <a:spcPts val="0"/>
              </a:spcAft>
              <a:buSzPts val="2000"/>
              <a:buAutoNum type="arabicPeriod"/>
            </a:pPr>
            <a:r>
              <a:rPr lang="en" sz="2000"/>
              <a:t>Go to the “Challenges” tab</a:t>
            </a:r>
            <a:br>
              <a:rPr lang="en" sz="2000"/>
            </a:br>
            <a:endParaRPr sz="2000"/>
          </a:p>
          <a:p>
            <a:pPr indent="-355600" lvl="0" marL="457200" rtl="0" algn="l">
              <a:spcBef>
                <a:spcPts val="0"/>
              </a:spcBef>
              <a:spcAft>
                <a:spcPts val="0"/>
              </a:spcAft>
              <a:buSzPts val="2000"/>
              <a:buAutoNum type="arabicPeriod"/>
            </a:pPr>
            <a:r>
              <a:rPr lang="en" sz="2000"/>
              <a:t>Go to </a:t>
            </a:r>
            <a:r>
              <a:rPr lang="en" sz="2000" u="sng">
                <a:solidFill>
                  <a:schemeClr val="hlink"/>
                </a:solidFill>
                <a:hlinkClick r:id="rId4"/>
              </a:rPr>
              <a:t>vuln-site.cyberuci.com</a:t>
            </a:r>
            <a:r>
              <a:rPr lang="en" sz="2000"/>
              <a:t> </a:t>
            </a:r>
            <a:br>
              <a:rPr lang="en" sz="2000"/>
            </a:br>
            <a:endParaRPr sz="2000"/>
          </a:p>
          <a:p>
            <a:pPr indent="-355600" lvl="0" marL="457200" rtl="0" algn="l">
              <a:spcBef>
                <a:spcPts val="0"/>
              </a:spcBef>
              <a:spcAft>
                <a:spcPts val="0"/>
              </a:spcAft>
              <a:buSzPts val="2000"/>
              <a:buAutoNum type="arabicPeriod"/>
            </a:pPr>
            <a:r>
              <a:rPr lang="en" sz="2000"/>
              <a:t>Find the flags!</a:t>
            </a:r>
            <a:endParaRPr sz="2000"/>
          </a:p>
        </p:txBody>
      </p:sp>
      <p:sp>
        <p:nvSpPr>
          <p:cNvPr id="344" name="Google Shape;344;p40"/>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45" name="Google Shape;345;p40"/>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46" name="Google Shape;346;p40"/>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of Interest</a:t>
            </a:r>
            <a:endParaRPr/>
          </a:p>
        </p:txBody>
      </p:sp>
      <p:sp>
        <p:nvSpPr>
          <p:cNvPr id="352" name="Google Shape;352;p41"/>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Note:</a:t>
            </a:r>
            <a:r>
              <a:rPr lang="en"/>
              <a:t> A lot of these tools are free for your own research and personal projects, but have an enterprise option when they are used by for-profit companies!</a:t>
            </a:r>
            <a:endParaRPr/>
          </a:p>
          <a:p>
            <a:pPr indent="-330200" lvl="0" marL="457200" rtl="0" algn="l">
              <a:spcBef>
                <a:spcPts val="1200"/>
              </a:spcBef>
              <a:spcAft>
                <a:spcPts val="0"/>
              </a:spcAft>
              <a:buSzPts val="1600"/>
              <a:buChar char="★"/>
            </a:pPr>
            <a:r>
              <a:rPr lang="en"/>
              <a:t>Semgrep: </a:t>
            </a:r>
            <a:r>
              <a:rPr lang="en" u="sng">
                <a:solidFill>
                  <a:schemeClr val="hlink"/>
                </a:solidFill>
                <a:hlinkClick r:id="rId3"/>
              </a:rPr>
              <a:t>https://github.com/semgrep/semgrep</a:t>
            </a:r>
            <a:r>
              <a:rPr lang="en"/>
              <a:t> </a:t>
            </a:r>
            <a:endParaRPr/>
          </a:p>
          <a:p>
            <a:pPr indent="-330200" lvl="0" marL="457200" rtl="0" algn="l">
              <a:spcBef>
                <a:spcPts val="0"/>
              </a:spcBef>
              <a:spcAft>
                <a:spcPts val="0"/>
              </a:spcAft>
              <a:buSzPts val="1600"/>
              <a:buChar char="★"/>
            </a:pPr>
            <a:r>
              <a:rPr lang="en"/>
              <a:t>Aikido: </a:t>
            </a:r>
            <a:r>
              <a:rPr lang="en" u="sng">
                <a:solidFill>
                  <a:schemeClr val="hlink"/>
                </a:solidFill>
                <a:hlinkClick r:id="rId4"/>
              </a:rPr>
              <a:t>https://github.com/AikidoSec</a:t>
            </a:r>
            <a:r>
              <a:rPr lang="en"/>
              <a:t> </a:t>
            </a:r>
            <a:endParaRPr/>
          </a:p>
          <a:p>
            <a:pPr indent="-304800" lvl="1" marL="914400" rtl="0" algn="l">
              <a:spcBef>
                <a:spcPts val="0"/>
              </a:spcBef>
              <a:spcAft>
                <a:spcPts val="0"/>
              </a:spcAft>
              <a:buSzPts val="1200"/>
              <a:buChar char="○"/>
            </a:pPr>
            <a:r>
              <a:rPr lang="en"/>
              <a:t>Software Supply Chain: </a:t>
            </a:r>
            <a:r>
              <a:rPr lang="en" u="sng">
                <a:solidFill>
                  <a:schemeClr val="hlink"/>
                </a:solidFill>
                <a:hlinkClick r:id="rId5"/>
              </a:rPr>
              <a:t>https://github.com/AikidoSec/safe-chain</a:t>
            </a:r>
            <a:r>
              <a:rPr lang="en"/>
              <a:t> </a:t>
            </a:r>
            <a:endParaRPr/>
          </a:p>
          <a:p>
            <a:pPr indent="-304800" lvl="1" marL="914400" rtl="0" algn="l">
              <a:spcBef>
                <a:spcPts val="0"/>
              </a:spcBef>
              <a:spcAft>
                <a:spcPts val="0"/>
              </a:spcAft>
              <a:buSzPts val="1200"/>
              <a:buChar char="○"/>
            </a:pPr>
            <a:r>
              <a:rPr lang="en"/>
              <a:t>Software Composition Analysis: </a:t>
            </a:r>
            <a:r>
              <a:rPr lang="en" u="sng">
                <a:solidFill>
                  <a:schemeClr val="hlink"/>
                </a:solidFill>
                <a:hlinkClick r:id="rId6"/>
              </a:rPr>
              <a:t>https://www.aikido.dev/scanners/open-source-dependency-scanning-sca</a:t>
            </a:r>
            <a:r>
              <a:rPr lang="en"/>
              <a:t> </a:t>
            </a:r>
            <a:endParaRPr/>
          </a:p>
          <a:p>
            <a:pPr indent="-330200" lvl="0" marL="457200" rtl="0" algn="l">
              <a:spcBef>
                <a:spcPts val="0"/>
              </a:spcBef>
              <a:spcAft>
                <a:spcPts val="0"/>
              </a:spcAft>
              <a:buSzPts val="1600"/>
              <a:buChar char="★"/>
            </a:pPr>
            <a:r>
              <a:rPr lang="en"/>
              <a:t>ZAP: </a:t>
            </a:r>
            <a:r>
              <a:rPr lang="en" u="sng">
                <a:solidFill>
                  <a:schemeClr val="hlink"/>
                </a:solidFill>
                <a:hlinkClick r:id="rId7"/>
              </a:rPr>
              <a:t>https://www.zaproxy.org/</a:t>
            </a:r>
            <a:r>
              <a:rPr lang="en"/>
              <a:t> </a:t>
            </a:r>
            <a:endParaRPr/>
          </a:p>
          <a:p>
            <a:pPr indent="-330200" lvl="0" marL="457200" rtl="0" algn="l">
              <a:spcBef>
                <a:spcPts val="0"/>
              </a:spcBef>
              <a:spcAft>
                <a:spcPts val="0"/>
              </a:spcAft>
              <a:buSzPts val="1600"/>
              <a:buChar char="★"/>
            </a:pPr>
            <a:r>
              <a:rPr lang="en"/>
              <a:t>Trivy: </a:t>
            </a:r>
            <a:r>
              <a:rPr lang="en" u="sng">
                <a:solidFill>
                  <a:schemeClr val="hlink"/>
                </a:solidFill>
                <a:hlinkClick r:id="rId8"/>
              </a:rPr>
              <a:t>https://trivy.dev/latest/</a:t>
            </a:r>
            <a:r>
              <a:rPr lang="en"/>
              <a:t> </a:t>
            </a:r>
            <a:endParaRPr/>
          </a:p>
          <a:p>
            <a:pPr indent="-330200" lvl="0" marL="457200" rtl="0" algn="l">
              <a:spcBef>
                <a:spcPts val="0"/>
              </a:spcBef>
              <a:spcAft>
                <a:spcPts val="0"/>
              </a:spcAft>
              <a:buSzPts val="1600"/>
              <a:buChar char="★"/>
            </a:pPr>
            <a:r>
              <a:rPr lang="en"/>
              <a:t>FuzzForge: </a:t>
            </a:r>
            <a:r>
              <a:rPr lang="en" u="sng">
                <a:solidFill>
                  <a:schemeClr val="hlink"/>
                </a:solidFill>
                <a:hlinkClick r:id="rId9"/>
              </a:rPr>
              <a:t>https://github.com/FuzzingLabs/fuzzforge_ai</a:t>
            </a:r>
            <a:r>
              <a:rPr lang="en"/>
              <a:t> </a:t>
            </a:r>
            <a:endParaRPr/>
          </a:p>
          <a:p>
            <a:pPr indent="-304800" lvl="1" marL="914400" rtl="0" algn="l">
              <a:spcBef>
                <a:spcPts val="0"/>
              </a:spcBef>
              <a:spcAft>
                <a:spcPts val="0"/>
              </a:spcAft>
              <a:buSzPts val="1200"/>
              <a:buChar char="○"/>
            </a:pPr>
            <a:r>
              <a:rPr lang="en"/>
              <a:t>“AI-Powered Workflow Automation” - experimental!</a:t>
            </a:r>
            <a:endParaRPr/>
          </a:p>
          <a:p>
            <a:pPr indent="0" lvl="0" marL="0" rtl="0" algn="l">
              <a:spcBef>
                <a:spcPts val="1200"/>
              </a:spcBef>
              <a:spcAft>
                <a:spcPts val="1200"/>
              </a:spcAft>
              <a:buNone/>
            </a:pPr>
            <a:r>
              <a:t/>
            </a:r>
            <a:endParaRPr/>
          </a:p>
        </p:txBody>
      </p:sp>
      <p:sp>
        <p:nvSpPr>
          <p:cNvPr id="353" name="Google Shape;353;p41"/>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54" name="Google Shape;354;p41"/>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55" name="Google Shape;355;p41"/>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Resources</a:t>
            </a:r>
            <a:endParaRPr/>
          </a:p>
        </p:txBody>
      </p:sp>
      <p:sp>
        <p:nvSpPr>
          <p:cNvPr id="361" name="Google Shape;361;p42"/>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Lato"/>
              <a:buChar char="★"/>
            </a:pPr>
            <a:r>
              <a:rPr lang="en" sz="1300"/>
              <a:t>Open Worldwide Application Security Project: </a:t>
            </a:r>
            <a:endParaRPr sz="1300"/>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3">
                  <a:extLst>
                    <a:ext uri="{A12FA001-AC4F-418D-AE19-62706E023703}">
                      <ahyp:hlinkClr val="tx"/>
                    </a:ext>
                  </a:extLst>
                </a:hlinkClick>
              </a:rPr>
              <a:t>https://owasp.org/Top10/</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4">
                  <a:extLst>
                    <a:ext uri="{A12FA001-AC4F-418D-AE19-62706E023703}">
                      <ahyp:hlinkClr val="tx"/>
                    </a:ext>
                  </a:extLst>
                </a:hlinkClick>
              </a:rPr>
              <a:t>https://owasp.org/www-project-api-security/</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API Security.io:</a:t>
            </a:r>
            <a:r>
              <a:rPr lang="en" sz="1300">
                <a:solidFill>
                  <a:schemeClr val="accent5"/>
                </a:solidFill>
                <a:latin typeface="Lato"/>
                <a:ea typeface="Lato"/>
                <a:cs typeface="Lato"/>
                <a:sym typeface="Lato"/>
              </a:rPr>
              <a:t> </a:t>
            </a:r>
            <a:endParaRPr sz="1300">
              <a:solidFill>
                <a:schemeClr val="accent5"/>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5">
                  <a:extLst>
                    <a:ext uri="{A12FA001-AC4F-418D-AE19-62706E023703}">
                      <ahyp:hlinkClr val="tx"/>
                    </a:ext>
                  </a:extLst>
                </a:hlinkClick>
              </a:rPr>
              <a:t>https://apisecurity.io/encyclopedia/content/owasp/owasp-api-security-top-10.htm</a:t>
            </a:r>
            <a:endParaRPr sz="1100">
              <a:solidFill>
                <a:schemeClr val="accent1"/>
              </a:solidFill>
            </a:endParaRPr>
          </a:p>
          <a:p>
            <a:pPr indent="-317500" lvl="0" marL="457200" rtl="0" algn="l">
              <a:spcBef>
                <a:spcPts val="0"/>
              </a:spcBef>
              <a:spcAft>
                <a:spcPts val="0"/>
              </a:spcAft>
              <a:buClr>
                <a:schemeClr val="dk2"/>
              </a:buClr>
              <a:buSzPts val="1400"/>
              <a:buFont typeface="Lato"/>
              <a:buChar char="★"/>
            </a:pPr>
            <a:r>
              <a:rPr lang="en" sz="1300"/>
              <a:t>Snyk:</a:t>
            </a:r>
            <a:r>
              <a:rPr lang="en" sz="1500"/>
              <a:t> </a:t>
            </a:r>
            <a:endParaRPr sz="1500"/>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6">
                  <a:extLst>
                    <a:ext uri="{A12FA001-AC4F-418D-AE19-62706E023703}">
                      <ahyp:hlinkClr val="tx"/>
                    </a:ext>
                  </a:extLst>
                </a:hlinkClick>
              </a:rPr>
              <a:t>https://snyk.io/learn/application-security/</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7">
                  <a:extLst>
                    <a:ext uri="{A12FA001-AC4F-418D-AE19-62706E023703}">
                      <ahyp:hlinkClr val="tx"/>
                    </a:ext>
                  </a:extLst>
                </a:hlinkClick>
              </a:rPr>
              <a:t>https://snyk.io/blog/10-react-security-best-practices/</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NodeJS: </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8">
                  <a:extLst>
                    <a:ext uri="{A12FA001-AC4F-418D-AE19-62706E023703}">
                      <ahyp:hlinkClr val="tx"/>
                    </a:ext>
                  </a:extLst>
                </a:hlinkClick>
              </a:rPr>
              <a:t>https://nodejs.org/en/docs/guides/security/</a:t>
            </a:r>
            <a:r>
              <a:rPr lang="en"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OWASP Cheat Sheet Series:</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9">
                  <a:extLst>
                    <a:ext uri="{A12FA001-AC4F-418D-AE19-62706E023703}">
                      <ahyp:hlinkClr val="tx"/>
                    </a:ext>
                  </a:extLst>
                </a:hlinkClick>
              </a:rPr>
              <a:t>https://cheatsheetseries.owasp.org/cheatsheets/Forgot_Password_Cheat_Sheet.html</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dk2"/>
              </a:buClr>
              <a:buSzPts val="1300"/>
              <a:buFont typeface="Lato"/>
              <a:buChar char="★"/>
            </a:pPr>
            <a:r>
              <a:rPr lang="en" sz="1300">
                <a:solidFill>
                  <a:schemeClr val="dk2"/>
                </a:solidFill>
                <a:latin typeface="Lato"/>
                <a:ea typeface="Lato"/>
                <a:cs typeface="Lato"/>
                <a:sym typeface="Lato"/>
              </a:rPr>
              <a:t>Gitlab: </a:t>
            </a:r>
            <a:endParaRPr sz="1300">
              <a:solidFill>
                <a:schemeClr val="dk2"/>
              </a:solidFill>
              <a:latin typeface="Lato"/>
              <a:ea typeface="Lato"/>
              <a:cs typeface="Lato"/>
              <a:sym typeface="Lato"/>
            </a:endParaRPr>
          </a:p>
          <a:p>
            <a:pPr indent="-311150" lvl="1" marL="914400" rtl="0" algn="l">
              <a:spcBef>
                <a:spcPts val="0"/>
              </a:spcBef>
              <a:spcAft>
                <a:spcPts val="0"/>
              </a:spcAft>
              <a:buClr>
                <a:schemeClr val="accent1"/>
              </a:buClr>
              <a:buSzPts val="1300"/>
              <a:buFont typeface="Lato"/>
              <a:buChar char="○"/>
            </a:pPr>
            <a:r>
              <a:rPr lang="en" sz="1300" u="sng">
                <a:solidFill>
                  <a:schemeClr val="accent1"/>
                </a:solidFill>
                <a:latin typeface="Lato"/>
                <a:ea typeface="Lato"/>
                <a:cs typeface="Lato"/>
                <a:sym typeface="Lato"/>
                <a:hlinkClick r:id="rId10">
                  <a:extLst>
                    <a:ext uri="{A12FA001-AC4F-418D-AE19-62706E023703}">
                      <ahyp:hlinkClr val="tx"/>
                    </a:ext>
                  </a:extLst>
                </a:hlinkClick>
              </a:rPr>
              <a:t>https://docs.gitlab.com/ee/user/application_security/dependency_scanning/</a:t>
            </a:r>
            <a:r>
              <a:rPr lang="en" sz="1300">
                <a:solidFill>
                  <a:schemeClr val="accent1"/>
                </a:solidFill>
                <a:latin typeface="Lato"/>
                <a:ea typeface="Lato"/>
                <a:cs typeface="Lato"/>
                <a:sym typeface="Lato"/>
              </a:rPr>
              <a:t>  </a:t>
            </a:r>
            <a:endParaRPr sz="1300">
              <a:solidFill>
                <a:schemeClr val="accent1"/>
              </a:solidFill>
              <a:latin typeface="Poppins Light"/>
              <a:ea typeface="Poppins Light"/>
              <a:cs typeface="Poppins Light"/>
              <a:sym typeface="Poppins Light"/>
            </a:endParaRPr>
          </a:p>
          <a:p>
            <a:pPr indent="0" lvl="0" marL="0" rtl="0" algn="l">
              <a:spcBef>
                <a:spcPts val="1200"/>
              </a:spcBef>
              <a:spcAft>
                <a:spcPts val="1200"/>
              </a:spcAft>
              <a:buNone/>
            </a:pPr>
            <a:r>
              <a:t/>
            </a:r>
            <a:endParaRPr/>
          </a:p>
        </p:txBody>
      </p:sp>
      <p:sp>
        <p:nvSpPr>
          <p:cNvPr id="362" name="Google Shape;362;p42"/>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63" name="Google Shape;363;p42"/>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64" name="Google Shape;364;p42"/>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Join Cyber @ UCI</a:t>
            </a:r>
            <a:endParaRPr/>
          </a:p>
        </p:txBody>
      </p:sp>
      <p:sp>
        <p:nvSpPr>
          <p:cNvPr id="370" name="Google Shape;370;p43"/>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For more trainings on appsec and general security, come to our meetings!</a:t>
            </a:r>
            <a:endParaRPr sz="1900"/>
          </a:p>
          <a:p>
            <a:pPr indent="-330200" lvl="0" marL="457200" rtl="0" algn="l">
              <a:spcBef>
                <a:spcPts val="1200"/>
              </a:spcBef>
              <a:spcAft>
                <a:spcPts val="0"/>
              </a:spcAft>
              <a:buSzPts val="1600"/>
              <a:buChar char="-"/>
            </a:pPr>
            <a:r>
              <a:rPr lang="en"/>
              <a:t>Join our Discord: </a:t>
            </a:r>
            <a:r>
              <a:rPr lang="en" u="sng">
                <a:solidFill>
                  <a:schemeClr val="hlink"/>
                </a:solidFill>
                <a:hlinkClick r:id="rId3"/>
              </a:rPr>
              <a:t>discord.cyberuci.com</a:t>
            </a:r>
            <a:r>
              <a:rPr lang="en"/>
              <a:t> </a:t>
            </a:r>
            <a:br>
              <a:rPr lang="en"/>
            </a:br>
            <a:endParaRPr/>
          </a:p>
          <a:p>
            <a:pPr indent="-330200" lvl="0" marL="457200" rtl="0" algn="l">
              <a:spcBef>
                <a:spcPts val="0"/>
              </a:spcBef>
              <a:spcAft>
                <a:spcPts val="0"/>
              </a:spcAft>
              <a:buSzPts val="1600"/>
              <a:buChar char="-"/>
            </a:pPr>
            <a:r>
              <a:rPr lang="en"/>
              <a:t>Follow our Instagram: @ cyberuci</a:t>
            </a:r>
            <a:br>
              <a:rPr lang="en"/>
            </a:br>
            <a:endParaRPr/>
          </a:p>
          <a:p>
            <a:pPr indent="-330200" lvl="0" marL="457200" rtl="0" algn="l">
              <a:spcBef>
                <a:spcPts val="0"/>
              </a:spcBef>
              <a:spcAft>
                <a:spcPts val="0"/>
              </a:spcAft>
              <a:buSzPts val="1600"/>
              <a:buChar char="-"/>
            </a:pPr>
            <a:r>
              <a:rPr lang="en"/>
              <a:t>Our Fall ‘25 meetings are on Wednesdays from 6:30pm - 7:30pm</a:t>
            </a:r>
            <a:endParaRPr/>
          </a:p>
          <a:p>
            <a:pPr indent="-311150" lvl="1" marL="914400" rtl="0" algn="l">
              <a:spcBef>
                <a:spcPts val="0"/>
              </a:spcBef>
              <a:spcAft>
                <a:spcPts val="0"/>
              </a:spcAft>
              <a:buSzPts val="1300"/>
              <a:buChar char="-"/>
            </a:pPr>
            <a:r>
              <a:rPr lang="en" sz="1300"/>
              <a:t>Intro to Ethical Hacking next week!</a:t>
            </a:r>
            <a:endParaRPr sz="1300"/>
          </a:p>
          <a:p>
            <a:pPr indent="-349250" lvl="1" marL="914400" rtl="0" algn="l">
              <a:spcBef>
                <a:spcPts val="0"/>
              </a:spcBef>
              <a:spcAft>
                <a:spcPts val="0"/>
              </a:spcAft>
              <a:buSzPts val="1900"/>
              <a:buChar char="-"/>
            </a:pPr>
            <a:r>
              <a:rPr lang="en" sz="1300"/>
              <a:t>Guest speakers from Splunk/Cisco in 2 weeks!</a:t>
            </a:r>
            <a:br>
              <a:rPr lang="en" sz="1600"/>
            </a:br>
            <a:endParaRPr sz="1600"/>
          </a:p>
          <a:p>
            <a:pPr indent="-330200" lvl="0" marL="457200" rtl="0" algn="l">
              <a:spcBef>
                <a:spcPts val="0"/>
              </a:spcBef>
              <a:spcAft>
                <a:spcPts val="0"/>
              </a:spcAft>
              <a:buSzPts val="1600"/>
              <a:buChar char="-"/>
            </a:pPr>
            <a:r>
              <a:rPr lang="en"/>
              <a:t>Recruitment for various operation and competition teams throughout the year</a:t>
            </a:r>
            <a:endParaRPr/>
          </a:p>
          <a:p>
            <a:pPr indent="-311150" lvl="1" marL="914400" rtl="0" algn="l">
              <a:spcBef>
                <a:spcPts val="0"/>
              </a:spcBef>
              <a:spcAft>
                <a:spcPts val="0"/>
              </a:spcAft>
              <a:buSzPts val="1300"/>
              <a:buChar char="-"/>
            </a:pPr>
            <a:r>
              <a:rPr lang="en" sz="1300"/>
              <a:t>Join our Discord for the latest announcements!</a:t>
            </a:r>
            <a:endParaRPr sz="1300"/>
          </a:p>
        </p:txBody>
      </p:sp>
      <p:sp>
        <p:nvSpPr>
          <p:cNvPr id="371" name="Google Shape;371;p43"/>
          <p:cNvSpPr txBox="1"/>
          <p:nvPr>
            <p:ph idx="12" type="sldNum"/>
          </p:nvPr>
        </p:nvSpPr>
        <p:spPr>
          <a:xfrm>
            <a:off x="8625927" y="4818997"/>
            <a:ext cx="3759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72" name="Google Shape;372;p43"/>
          <p:cNvSpPr txBox="1"/>
          <p:nvPr>
            <p:ph idx="2" type="sldNum"/>
          </p:nvPr>
        </p:nvSpPr>
        <p:spPr>
          <a:xfrm>
            <a:off x="4338449" y="4885842"/>
            <a:ext cx="4671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2025</a:t>
            </a:r>
            <a:endParaRPr/>
          </a:p>
        </p:txBody>
      </p:sp>
      <p:sp>
        <p:nvSpPr>
          <p:cNvPr id="373" name="Google Shape;373;p43"/>
          <p:cNvSpPr txBox="1"/>
          <p:nvPr>
            <p:ph idx="3" type="sldNum"/>
          </p:nvPr>
        </p:nvSpPr>
        <p:spPr>
          <a:xfrm>
            <a:off x="174475" y="4885842"/>
            <a:ext cx="786000" cy="2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Cyber @ UCI</a:t>
            </a:r>
            <a:endParaRPr/>
          </a:p>
        </p:txBody>
      </p:sp>
      <p:pic>
        <p:nvPicPr>
          <p:cNvPr descr="Cyber@UCI Logo" id="374" name="Google Shape;374;p43"/>
          <p:cNvPicPr preferRelativeResize="0"/>
          <p:nvPr/>
        </p:nvPicPr>
        <p:blipFill>
          <a:blip r:embed="rId4">
            <a:alphaModFix/>
          </a:blip>
          <a:stretch>
            <a:fillRect/>
          </a:stretch>
        </p:blipFill>
        <p:spPr>
          <a:xfrm>
            <a:off x="7489375" y="174425"/>
            <a:ext cx="1015301" cy="8879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ber @ UCI Slides Template">
  <a:themeElements>
    <a:clrScheme name="Simple Light">
      <a:dk1>
        <a:srgbClr val="333333"/>
      </a:dk1>
      <a:lt1>
        <a:srgbClr val="F5F5F5"/>
      </a:lt1>
      <a:dk2>
        <a:srgbClr val="777777"/>
      </a:dk2>
      <a:lt2>
        <a:srgbClr val="FFFFFF"/>
      </a:lt2>
      <a:accent1>
        <a:srgbClr val="6083BF"/>
      </a:accent1>
      <a:accent2>
        <a:srgbClr val="80B076"/>
      </a:accent2>
      <a:accent3>
        <a:srgbClr val="78909C"/>
      </a:accent3>
      <a:accent4>
        <a:srgbClr val="FFAB40"/>
      </a:accent4>
      <a:accent5>
        <a:srgbClr val="0097A7"/>
      </a:accent5>
      <a:accent6>
        <a:srgbClr val="EEFF41"/>
      </a:accent6>
      <a:hlink>
        <a:srgbClr val="6083B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